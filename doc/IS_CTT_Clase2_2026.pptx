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1E88E5">
              <a:alpha val="55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548640"/>
            <a:ext cx="2926080" cy="292608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365760"/>
            <a:ext cx="1737360" cy="1737360"/>
          </a:xfrm>
          <a:prstGeom prst="ellipse">
            <a:avLst/>
          </a:prstGeom>
          <a:solidFill>
            <a:srgbClr val="00B0FF">
              <a:alpha val="35000"/>
            </a:srgbClr>
          </a:solidFill>
          <a:ln w="12700">
            <a:solidFill>
              <a:srgbClr val="00B0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572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CLASE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Metodologías Ágiles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GitHub Projects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49377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– Técnico en Redes y Software  |  Año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IS  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Kanban · GitHub Projects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902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Juan Damián Pajares García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 dónde viene AGILE?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200400"/>
            <a:ext cx="3977640" cy="1645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3200400"/>
            <a:ext cx="91440" cy="16459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2552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🏭  LEAN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Toyota, años 1960. Producción on-demand centrada en el cliente, sin desperdicios. Base del pensamiento moderno.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3200400"/>
            <a:ext cx="3977640" cy="1645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200400"/>
            <a:ext cx="91440" cy="1645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32552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AGILE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Ágil, 2001. LEAN adaptado al software: misma filosofía, foco en equipos y respuesta al cambio.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vs AGILE — ¿Son lo mismo?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731520"/>
            <a:ext cx="283464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127248"/>
            <a:ext cx="2194560" cy="42062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487168" y="3127248"/>
            <a:ext cx="3154680" cy="42062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0136" y="3127248"/>
            <a:ext cx="31546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1272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87168" y="312724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0136" y="312724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566160"/>
            <a:ext cx="219456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87168" y="3566160"/>
            <a:ext cx="31546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0136" y="3566160"/>
            <a:ext cx="31546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78608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automotriz (Toyota)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51576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(2001)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950208"/>
            <a:ext cx="219456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7168" y="3950208"/>
            <a:ext cx="315468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0136" y="3950208"/>
            <a:ext cx="315468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78608" y="39502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cadena de valor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51576" y="39502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y respuesta al cambio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4334256"/>
            <a:ext cx="219456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87168" y="4334256"/>
            <a:ext cx="31546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0136" y="4334256"/>
            <a:ext cx="31546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334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578608" y="43342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Previsible y nivelada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51576" y="43342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e incierta (VUCA)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718304"/>
            <a:ext cx="219456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87168" y="4718304"/>
            <a:ext cx="315468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0136" y="4718304"/>
            <a:ext cx="3154680" cy="36576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718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578608" y="47183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(Kaizen)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51576" y="47183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cortas (Sprints)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Manifiesto Ágil — 4 Valores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en Utah, 2001 — Define la filosofía detrás de todas las metodologías ágiles.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72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Individuos e interacciones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4721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472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procesos y herramientas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196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valoramos más — aunque los elementos de la derecha también tienen valor.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31720"/>
            <a:ext cx="109728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86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funcionando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3865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386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documentación exhaustiva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27340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valoramos más — aunque los elementos de la derecha también tienen valor.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46120"/>
            <a:ext cx="10972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con el cliente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33009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300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negociación de contratos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6484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valoramos más — aunque los elementos de la derecha también tienen valor.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60520"/>
            <a:ext cx="109728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215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al cambio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42153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seguir un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5628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valoramos más — aunque los elementos de la derecha también tienen valor.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— El Framework Ágil más usado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840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4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657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97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revisando el tablero durante el Daily Stand-up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89120" y="1005840"/>
            <a:ext cx="443484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0" y="1005840"/>
            <a:ext cx="6858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10058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193792" y="1069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93792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de 1–2 semanas con objetivo fijo y entregable.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1965960"/>
            <a:ext cx="443484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965960"/>
            <a:ext cx="685800" cy="8046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196596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93792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93792" y="2350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de todo el trabajo pendiente del producto.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0" y="2926080"/>
            <a:ext cx="443484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89120" y="2926080"/>
            <a:ext cx="685800" cy="80467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292608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93792" y="2990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93792" y="3310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seleccionadas para completar en este sprint.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3886200"/>
            <a:ext cx="4434840" cy="804672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3886200"/>
            <a:ext cx="685800" cy="8046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0" y="388620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93792" y="3950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93792" y="42702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funcional entregado al final de cada sprint.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— Los 3 Roles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2697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972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Product Owner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" y="1965960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019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Product Backlog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6072" y="2624328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03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funcionalidades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186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del cliente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3941064"/>
            <a:ext cx="237744" cy="23774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770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criterios de aceptación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697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0972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Scrum Master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10712" y="1965960"/>
            <a:ext cx="237744" cy="23774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9019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proceso Scrum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10712" y="2624328"/>
            <a:ext cx="237744" cy="23774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5603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impedimentos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10712" y="3282696"/>
            <a:ext cx="237744" cy="23774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2186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equipo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10712" y="3941064"/>
            <a:ext cx="237744" cy="23774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8770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y capacita al equipo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097280"/>
            <a:ext cx="2697480" cy="68580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109728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Development Team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45352" y="1965960"/>
            <a:ext cx="237744" cy="237744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9019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el producto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45352" y="2624328"/>
            <a:ext cx="237744" cy="237744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56032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Auto-organizado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45352" y="3282696"/>
            <a:ext cx="237744" cy="237744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21868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Multidisciplinario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45352" y="3941064"/>
            <a:ext cx="237744" cy="237744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8770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9 personas idealmente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Flujo del Sprint — De idea a software funcionando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645920" y="2423160"/>
            <a:ext cx="41148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1444752" cy="29260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344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41148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097280"/>
            <a:ext cx="1444752" cy="2926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2344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65960" y="19659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423160"/>
            <a:ext cx="41148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097280"/>
            <a:ext cx="1444752" cy="2926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2344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19659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1–2 semanas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423160"/>
            <a:ext cx="411480" cy="164592"/>
          </a:xfrm>
          <a:prstGeom prst="rect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097280"/>
            <a:ext cx="1444752" cy="292608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12344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49240" y="19659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Stand-up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1097280"/>
            <a:ext cx="1444752" cy="2926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95160" y="12344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40880" y="19659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4160520"/>
            <a:ext cx="8229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Retrospectiva → mejora continua → siguiente Sprint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4663440"/>
            <a:ext cx="8229600" cy="320040"/>
          </a:xfrm>
          <a:prstGeom prst="rect">
            <a:avLst/>
          </a:prstGeom>
          <a:solidFill>
            <a:srgbClr val="1A2E4A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Stand-up: ¿Qué hice ayer?  |  ¿Qué haré hoy?  |  ¿Hay algún impedimento?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— Gestión Visual del Flujo de Trabajo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572768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Backlog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1508760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508760"/>
            <a:ext cx="64008" cy="56692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08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" y="2185416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" y="2185416"/>
            <a:ext cx="64008" cy="56692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1854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notas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" y="2862072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" y="2862072"/>
            <a:ext cx="64008" cy="56692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86207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" y="3538728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" y="3538728"/>
            <a:ext cx="64008" cy="56692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53872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" y="4215384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" y="4215384"/>
            <a:ext cx="64008" cy="56692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21538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 email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12848" y="960120"/>
            <a:ext cx="157276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12848" y="960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 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12848" y="141732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67712" y="1508760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67712" y="1508760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1508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67712" y="2185416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67712" y="2185416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21854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notas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22776" y="960120"/>
            <a:ext cx="157276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22776" y="960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In Progress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22776" y="141732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1508760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77640" y="1508760"/>
            <a:ext cx="64008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7368" y="1508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32704" y="960120"/>
            <a:ext cx="1572768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32704" y="960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Review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32704" y="141732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87568" y="1508760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87568" y="1508760"/>
            <a:ext cx="64008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97296" y="1508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42632" y="960120"/>
            <a:ext cx="157276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42632" y="960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42632" y="141732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97496" y="1508760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397496" y="1508760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07224" y="150876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Docker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97496" y="2185416"/>
            <a:ext cx="1463040" cy="566928"/>
          </a:xfrm>
          <a:prstGeom prst="rect">
            <a:avLst/>
          </a:prstGeom>
          <a:solidFill>
            <a:srgbClr val="F5F8FF"/>
          </a:solidFill>
          <a:ln w="12700">
            <a:solidFill>
              <a:srgbClr val="B0C4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97496" y="2185416"/>
            <a:ext cx="64008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218541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292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 se mueven de izquierda a derecha conforme avanza el trabajo.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como Herramienta Ágil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0" y="1097280"/>
            <a:ext cx="310896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1097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🐙  GitHub Projects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68580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2423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Tareas, bugs, historias de usuario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233172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331720"/>
            <a:ext cx="685800" cy="11430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33172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22192" y="2423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22192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o tabla de tareas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2331720"/>
            <a:ext cx="685800" cy="114300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33172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73952" y="2423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 issues por Sprint o versión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49040"/>
            <a:ext cx="685800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4904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70432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Clasifican tipo y prioridad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74904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17520" y="3749040"/>
            <a:ext cx="685800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374904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22192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22192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responsable de cada tarea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3749040"/>
            <a:ext cx="2468880" cy="114300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3749040"/>
            <a:ext cx="685800" cy="1143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74904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73952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73952" y="4251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antes de integrar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Issues — La unidad de trabajo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9144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70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formulario de registro de alumnos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3000" y="156362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63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563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@ana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1563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30759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07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57400"/>
            <a:ext cx="9144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130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campos del formulario de login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252374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5237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2523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@luis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226771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267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91440" cy="8046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17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sesión no cierra correctamente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34838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3483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9456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@carlos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66160" y="3483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40880" y="322783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278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77640"/>
            <a:ext cx="91440" cy="80467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77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endpoints de la API REST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143000" y="444398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4443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94560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@ana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566160" y="4443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0880" y="418795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Projects — Tablero Kanban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Backlog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338328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54480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554480"/>
            <a:ext cx="82296" cy="71323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Docs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95728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395728"/>
            <a:ext cx="82296" cy="71323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Reporte PDF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236976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3236976"/>
            <a:ext cx="82296" cy="71323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3697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1005840"/>
            <a:ext cx="20116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1463040"/>
            <a:ext cx="2011680" cy="338328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1554480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032" y="1554480"/>
            <a:ext cx="82296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15544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Registro alumno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2395728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42032" y="2395728"/>
            <a:ext cx="82296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39572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Bug: login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In Progress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1463040"/>
            <a:ext cx="2011680" cy="338328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1554480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554480"/>
            <a:ext cx="82296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5544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Validar 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0" y="1463040"/>
            <a:ext cx="2011680" cy="338328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31152" y="1554480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31152" y="1554480"/>
            <a:ext cx="82296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55448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 Repo GitHub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31152" y="2395728"/>
            <a:ext cx="1865376" cy="713232"/>
          </a:xfrm>
          <a:prstGeom prst="rect">
            <a:avLst/>
          </a:prstGeom>
          <a:solidFill>
            <a:srgbClr val="1E3050"/>
          </a:solidFill>
          <a:ln w="12700">
            <a:solidFill>
              <a:srgbClr val="2E4A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31152" y="2395728"/>
            <a:ext cx="82296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39572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En GitHub Projects podés ver el tablero en vista Kanban, tabla o roadmap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— Sprints en GitHub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Milestone agrupa Issues relacionados con una entrega o Sprint. Permite ver el progreso del Sprint.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1581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Mar – 14 Mar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581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issues cerrados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709928"/>
            <a:ext cx="1645920" cy="256032"/>
          </a:xfrm>
          <a:prstGeom prst="rect">
            <a:avLst/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709928"/>
            <a:ext cx="1645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1581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6584"/>
            <a:ext cx="91440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59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2459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 – 28 Mar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4597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issues cerrados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2587752"/>
            <a:ext cx="1645920" cy="256032"/>
          </a:xfrm>
          <a:prstGeom prst="rect">
            <a:avLst/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2587752"/>
            <a:ext cx="1069848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24597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64408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64408"/>
            <a:ext cx="9144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37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Mar – 11 Abr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0560" y="3337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 issues cerrados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465576"/>
            <a:ext cx="1645920" cy="256032"/>
          </a:xfrm>
          <a:prstGeom prst="rect">
            <a:avLst/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3465576"/>
            <a:ext cx="329184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14223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142232"/>
            <a:ext cx="91440" cy="71323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215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Sprint 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377440" y="4215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Abr – 25 Abr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4215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inicio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4343400"/>
            <a:ext cx="1645920" cy="256032"/>
          </a:xfrm>
          <a:prstGeom prst="rect">
            <a:avLst/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4215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Burndown Chart — Medir el avance del Sprint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669280" cy="347472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430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280160" y="1280160"/>
            <a:ext cx="46634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1887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2057400"/>
            <a:ext cx="46634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2834640"/>
            <a:ext cx="46634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3611880"/>
            <a:ext cx="466344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05840" y="3520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4434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80160" y="1280160"/>
            <a:ext cx="4572000" cy="3017520"/>
          </a:xfrm>
          <a:prstGeom prst="line">
            <a:avLst/>
          </a:prstGeom>
          <a:noFill/>
          <a:ln w="12700">
            <a:solidFill>
              <a:srgbClr val="A0B4C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02920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1280160"/>
            <a:ext cx="457200" cy="22860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1508760"/>
            <a:ext cx="457200" cy="4114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1920240"/>
            <a:ext cx="457200" cy="4572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1965960"/>
            <a:ext cx="457200" cy="41148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2377440"/>
            <a:ext cx="457200" cy="36576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743200"/>
            <a:ext cx="457200" cy="9144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0" y="2834640"/>
            <a:ext cx="457200" cy="36576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3200400"/>
            <a:ext cx="457200" cy="36576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3566160"/>
            <a:ext cx="914400" cy="68580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14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1097280"/>
            <a:ext cx="2377440" cy="3474720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muestra?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1828800"/>
            <a:ext cx="201168" cy="201168"/>
          </a:xfrm>
          <a:prstGeom prst="ellipse">
            <a:avLst/>
          </a:prstGeom>
          <a:solidFill>
            <a:srgbClr val="A0B4CC"/>
          </a:solidFill>
          <a:ln w="12700">
            <a:solidFill>
              <a:srgbClr val="A0B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ideal: avance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 del sprint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29400" y="248716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2441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real: avance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del equipo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29400" y="314553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0998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la ideal: el equipo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adelantado ✅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29400" y="3803904"/>
            <a:ext cx="201168" cy="20116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37581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ideal: hay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no terminar ⚠️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— ¿Cuándo está TERMINADO?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EFF3F8"/>
          </a:solidFill>
          <a:ln w="12700">
            <a:solidFill>
              <a:srgbClr val="D0DF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claros y acordados por el equipo que deben cumplirse antes de cerrar un Issue.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47672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fue escrito y funciona correctamente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82296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78024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59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manuales fueron realizadas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0837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8895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Pull Request fue revisado por otro miembro del equipo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53872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4198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Issue fue cerrado en GitHub Projects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069080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502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tarea fue movida a Done en el tablero ← ¡No olvidar esto!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599432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4805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funcionalidad fue demostrada en el Sprint Review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vs Kanban — ¿Cuándo usar cada uno?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24028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051560"/>
            <a:ext cx="3200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7880" y="1051560"/>
            <a:ext cx="320040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22402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508760"/>
            <a:ext cx="320040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508760"/>
            <a:ext cx="31546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24912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fijos (1–2 semanas)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6752" y="1508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continuo sin iteraciones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093976"/>
            <a:ext cx="22402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2093976"/>
            <a:ext cx="32004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093976"/>
            <a:ext cx="31546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9397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24912" y="2093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Scrum Master, Dev Team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16752" y="209397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 roles específicos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679192"/>
            <a:ext cx="22402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2679192"/>
            <a:ext cx="320040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2679192"/>
            <a:ext cx="31546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791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24912" y="2679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durante el Sprint activo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16752" y="26791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agregar en cualquier momento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264408"/>
            <a:ext cx="22402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3264408"/>
            <a:ext cx="32004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264408"/>
            <a:ext cx="31546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64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24912" y="3264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Daily, Review, Retro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16752" y="3264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Opcionales, según el equipo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849624"/>
            <a:ext cx="22402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3849624"/>
            <a:ext cx="320040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3849624"/>
            <a:ext cx="3154680" cy="548640"/>
          </a:xfrm>
          <a:prstGeom prst="rect">
            <a:avLst/>
          </a:prstGeom>
          <a:solidFill>
            <a:srgbClr val="162744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4962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724912" y="38496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Chart, Velocidad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16752" y="38496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time, Cycle time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22402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06040" y="4434840"/>
            <a:ext cx="32004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4434840"/>
            <a:ext cx="315468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5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434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724912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entregas claras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016752" y="44348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Soporte, mantenimiento, flujo variable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228"/>
          </a:solidFill>
          <a:ln w="12700">
            <a:solidFill>
              <a:srgbClr val="0A1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 Práctica — ¡Con el repo del proyecto!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9494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94944" cy="694944"/>
          </a:xfrm>
          <a:prstGeom prst="roundRect">
            <a:avLst>
              <a:gd name="adj" fmla="val 657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152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GitHub Projects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al repositorio → Projects → New Project → Board template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69494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01952"/>
            <a:ext cx="694944" cy="694944"/>
          </a:xfrm>
          <a:prstGeom prst="roundRect">
            <a:avLst>
              <a:gd name="adj" fmla="val 657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956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columnas del tablero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/ To Do / In Progress / Review / 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8412480" cy="69494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06624"/>
            <a:ext cx="694944" cy="694944"/>
          </a:xfrm>
          <a:prstGeom prst="roundRect">
            <a:avLst>
              <a:gd name="adj" fmla="val 6579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0662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4 Issues mínimo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88720" y="3072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+ al menos 1 bug. Asignar label, assignee y milestone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8412480" cy="69494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11296"/>
            <a:ext cx="694944" cy="694944"/>
          </a:xfrm>
          <a:prstGeom prst="roundRect">
            <a:avLst>
              <a:gd name="adj" fmla="val 657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112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Milestone Sprint 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88720" y="3877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hoy + 2 semanas. Asignar los Issues al Sprint.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8412480" cy="694944"/>
          </a:xfrm>
          <a:prstGeom prst="rect">
            <a:avLst/>
          </a:prstGeom>
          <a:solidFill>
            <a:srgbClr val="162744"/>
          </a:solidFill>
          <a:ln w="12700">
            <a:solidFill>
              <a:srgbClr val="2A45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315968"/>
            <a:ext cx="694944" cy="694944"/>
          </a:xfrm>
          <a:prstGeom prst="roundRect">
            <a:avLst>
              <a:gd name="adj" fmla="val 657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159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4370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cards en el tablero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8872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el flujo: Backlog → To Do → In Progress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CTT Clase 2 – Metodologías Ágiles y GitHub Projects</dc:title>
  <dc:subject>PptxGenJS Presentation</dc:subject>
  <dc:creator>Juan Damián Pajares García</dc:creator>
  <cp:lastModifiedBy>Juan Damián Pajares García</cp:lastModifiedBy>
  <cp:revision>1</cp:revision>
  <dcterms:created xsi:type="dcterms:W3CDTF">2026-03-16T17:58:53Z</dcterms:created>
  <dcterms:modified xsi:type="dcterms:W3CDTF">2026-03-16T17:58:53Z</dcterms:modified>
</cp:coreProperties>
</file>