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411480" cy="50977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"/>
            <a:ext cx="411480" cy="2011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0" y="137160"/>
            <a:ext cx="2286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37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MASTER CLASS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675120" y="566928"/>
            <a:ext cx="2286000" cy="256032"/>
          </a:xfrm>
          <a:prstGeom prst="rect">
            <a:avLst/>
          </a:prstGeom>
          <a:solidFill>
            <a:srgbClr val="39D353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 de Software  ·  2026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280160" cy="1280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5029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2103120" y="1389888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100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2103120" y="1993392"/>
            <a:ext cx="66751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0"/>
          <p:cNvSpPr/>
          <p:nvPr/>
        </p:nvSpPr>
        <p:spPr>
          <a:xfrm>
            <a:off x="2103120" y="2084832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· Branching · Pull Requests · GitHub Actions · Security · Projects · GitHub CLI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560320"/>
            <a:ext cx="1572768" cy="822960"/>
          </a:xfrm>
          <a:prstGeom prst="rect">
            <a:avLst/>
          </a:prstGeom>
          <a:solidFill>
            <a:srgbClr val="39D353">
              <a:alpha val="12000"/>
            </a:srgbClr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25786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01–04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283464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176272" y="2560320"/>
            <a:ext cx="1572768" cy="822960"/>
          </a:xfrm>
          <a:prstGeom prst="rect">
            <a:avLst/>
          </a:prstGeom>
          <a:solidFill>
            <a:srgbClr val="58A6FF">
              <a:alpha val="12000"/>
            </a:srgbClr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176272" y="25786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05–08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176272" y="283464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895344" y="2560320"/>
            <a:ext cx="1572768" cy="822960"/>
          </a:xfrm>
          <a:prstGeom prst="rect">
            <a:avLst/>
          </a:prstGeom>
          <a:solidFill>
            <a:srgbClr val="BC8CFF">
              <a:alpha val="12000"/>
            </a:srgbClr>
          </a:solidFill>
          <a:ln w="1524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895344" y="25786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09–12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895344" y="283464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14416" y="2560320"/>
            <a:ext cx="1572768" cy="822960"/>
          </a:xfrm>
          <a:prstGeom prst="rect">
            <a:avLst/>
          </a:prstGeom>
          <a:solidFill>
            <a:srgbClr val="F0883E">
              <a:alpha val="12000"/>
            </a:srgbClr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614416" y="25786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13–16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14416" y="283464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33488" y="2560320"/>
            <a:ext cx="1572768" cy="822960"/>
          </a:xfrm>
          <a:prstGeom prst="rect">
            <a:avLst/>
          </a:prstGeom>
          <a:solidFill>
            <a:srgbClr val="D29922">
              <a:alpha val="12000"/>
            </a:srgbClr>
          </a:solidFill>
          <a:ln w="1524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333488" y="25786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17–20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333488" y="283464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Ingeniería de Software Profundización III  |  Docente: Juan Damián Pajares García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38912" y="3520440"/>
            <a:ext cx="8366760" cy="1234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8912" y="3520440"/>
            <a:ext cx="836676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30"/>
          <p:cNvSpPr/>
          <p:nvPr/>
        </p:nvSpPr>
        <p:spPr>
          <a:xfrm>
            <a:off x="566928" y="3593592"/>
            <a:ext cx="109728" cy="10972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34" name="Shape 31"/>
          <p:cNvSpPr/>
          <p:nvPr/>
        </p:nvSpPr>
        <p:spPr>
          <a:xfrm>
            <a:off x="749808" y="3593592"/>
            <a:ext cx="109728" cy="109728"/>
          </a:xfrm>
          <a:prstGeom prst="oval">
            <a:avLst/>
          </a:prstGeom>
          <a:solidFill>
            <a:srgbClr val="D29922"/>
          </a:solidFill>
          <a:ln/>
        </p:spPr>
      </p:sp>
      <p:sp>
        <p:nvSpPr>
          <p:cNvPr id="35" name="Shape 32"/>
          <p:cNvSpPr/>
          <p:nvPr/>
        </p:nvSpPr>
        <p:spPr>
          <a:xfrm>
            <a:off x="932688" y="3593592"/>
            <a:ext cx="109728" cy="109728"/>
          </a:xfrm>
          <a:prstGeom prst="oval">
            <a:avLst/>
          </a:prstGeom>
          <a:solidFill>
            <a:srgbClr val="39D353"/>
          </a:solidFill>
          <a:ln/>
        </p:spPr>
      </p:sp>
      <p:sp>
        <p:nvSpPr>
          <p:cNvPr id="36" name="Text 33"/>
          <p:cNvSpPr/>
          <p:nvPr/>
        </p:nvSpPr>
        <p:spPr>
          <a:xfrm>
            <a:off x="320040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382219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41248" y="38221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qr-asistencia-ctt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4360" y="404164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41248" y="404164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 qr-asistencia-ctt/.git/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94360" y="42611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41248" y="42611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'feat(auth): add QR scan endpoint'  #  Conventional Commits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94360" y="44805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41248" y="44805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  &amp;&amp;  gh pr create --fill --web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F0883E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— FUNDAMENTOS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Git? — El sistema que lo cambia todo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103120" cy="35661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10312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17043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84048" y="215798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desarrolladores usa Git como VCS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871216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Overflow Developer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Survey 2024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364992"/>
            <a:ext cx="512064" cy="512064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3364992"/>
            <a:ext cx="512064" cy="5120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06040" y="1051560"/>
            <a:ext cx="621792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606040" y="1051560"/>
            <a:ext cx="54864" cy="804672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12527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18688" y="1124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 (DVCS)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218688" y="14356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desarrollador tiene el repositorio COMPLETO en local. No hay un único servidor central indispensable. Trabaja offline.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606040" y="1938528"/>
            <a:ext cx="621792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606040" y="1938528"/>
            <a:ext cx="54864" cy="804672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213969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18688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inmutable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218688" y="232257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commit tiene un hash SHA-1 único. El historial no se puede borrar sin rastro. Audit log permanente del proyecto.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606040" y="2825496"/>
            <a:ext cx="621792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606040" y="2825496"/>
            <a:ext cx="54864" cy="804672"/>
          </a:xfrm>
          <a:prstGeom prst="rect">
            <a:avLst/>
          </a:prstGeom>
          <a:solidFill>
            <a:srgbClr val="39D35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302666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218688" y="2898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ultrarrápido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218688" y="3209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rama es copiar un puntero (no los archivos). Operación en microsegundos. Permite experimentos sin riesgo.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606040" y="3712464"/>
            <a:ext cx="621792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606040" y="3712464"/>
            <a:ext cx="54864" cy="804672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" y="391363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18688" y="37856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inteligente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218688" y="4096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detecta cambios a nivel de línea. Fusiona automáticamente la mayoría de los casos. Marca los conflictos claramente.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GIT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Zonas de Git + Remote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Comprender dónde viven los archivos es la clave para entender todos los comandos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2029968" cy="2423160"/>
          </a:xfrm>
          <a:prstGeom prst="rect">
            <a:avLst/>
          </a:prstGeom>
          <a:solidFill>
            <a:srgbClr val="F85149">
              <a:alpha val="12000"/>
            </a:srgbClr>
          </a:solidFill>
          <a:ln w="2286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61872"/>
            <a:ext cx="2029968" cy="347472"/>
          </a:xfrm>
          <a:prstGeom prst="rect">
            <a:avLst/>
          </a:prstGeom>
          <a:solidFill>
            <a:srgbClr val="F85149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618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en tu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— modificados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sin trackear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04288" y="2084832"/>
            <a:ext cx="146304" cy="18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14" name="Text 12"/>
          <p:cNvSpPr/>
          <p:nvPr/>
        </p:nvSpPr>
        <p:spPr>
          <a:xfrm>
            <a:off x="2322576" y="192024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04288" y="2450592"/>
            <a:ext cx="146304" cy="18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16" name="Text 14"/>
          <p:cNvSpPr/>
          <p:nvPr/>
        </p:nvSpPr>
        <p:spPr>
          <a:xfrm>
            <a:off x="2322576" y="228600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21408" y="182880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50592" y="1261872"/>
            <a:ext cx="2029968" cy="2423160"/>
          </a:xfrm>
          <a:prstGeom prst="rect">
            <a:avLst/>
          </a:prstGeom>
          <a:solidFill>
            <a:srgbClr val="F0883E">
              <a:alpha val="12000"/>
            </a:srgbClr>
          </a:solidFill>
          <a:ln w="2286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261872"/>
            <a:ext cx="2029968" cy="347472"/>
          </a:xfrm>
          <a:prstGeom prst="rect">
            <a:avLst/>
          </a:prstGeom>
          <a:solidFill>
            <a:srgbClr val="F0883E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450592" y="12618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(Index)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42032" y="166420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preparados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próximo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(.git/index)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084832"/>
            <a:ext cx="146304" cy="18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192024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80560" y="2450592"/>
            <a:ext cx="146304" cy="18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228600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0" y="182880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26864" y="1261872"/>
            <a:ext cx="2029968" cy="2423160"/>
          </a:xfrm>
          <a:prstGeom prst="rect">
            <a:avLst/>
          </a:prstGeom>
          <a:solidFill>
            <a:srgbClr val="58A6FF">
              <a:alpha val="12000"/>
            </a:srgbClr>
          </a:solidFill>
          <a:ln w="2286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1261872"/>
            <a:ext cx="2029968" cy="347472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26864" y="12618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18304" y="166420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.git/ · commits,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tags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56832" y="2084832"/>
            <a:ext cx="146304" cy="18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92024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56832" y="2450592"/>
            <a:ext cx="146304" cy="18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228600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3952" y="182880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03136" y="1261872"/>
            <a:ext cx="2029968" cy="2423160"/>
          </a:xfrm>
          <a:prstGeom prst="rect">
            <a:avLst/>
          </a:prstGeom>
          <a:solidFill>
            <a:srgbClr val="39D353">
              <a:alpha val="12000"/>
            </a:srgbClr>
          </a:solidFill>
          <a:ln w="2286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03136" y="1261872"/>
            <a:ext cx="2029968" cy="347472"/>
          </a:xfrm>
          <a:prstGeom prst="rect">
            <a:avLst/>
          </a:prstGeom>
          <a:solidFill>
            <a:srgbClr val="39D353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03136" y="12618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94576" y="1664208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GitLab...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compartido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822192"/>
            <a:ext cx="8595360" cy="859536"/>
          </a:xfrm>
          <a:prstGeom prst="rect">
            <a:avLst/>
          </a:prstGeom>
          <a:solidFill>
            <a:srgbClr val="010409"/>
          </a:solidFill>
          <a:ln w="1270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822192"/>
            <a:ext cx="859536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de vida de un archivo en Git: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8912" y="4133088"/>
            <a:ext cx="873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312164" y="4133088"/>
            <a:ext cx="1220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git add  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32888" y="4133088"/>
            <a:ext cx="612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145536" y="41330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git commit  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26864" y="4133088"/>
            <a:ext cx="873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Committed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00116" y="4133088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git push  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07708" y="4133088"/>
            <a:ext cx="612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&amp; COMANDOS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Inicial y Comandos Esenciales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297680" cy="1810512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51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setup-ssh.sh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38074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Generar clave SSH (Ed25519 — más segura que RSA)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55905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'tu@email.com' -f ~/.ssh/id_github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73736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Agregar al agente SSH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91566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 $(ssh-agent -s) &amp;&amp; ssh-add ~/.ssh/id_github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09397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Copiar clave pública → pegar en GitHub Settings &gt; SSH Keys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27228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~/.ssh/id_github.pub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45059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Verificar conexión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62890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-T git@github.com   # → Hi username! You've successfully authenticated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1810512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.gitconfig — Configuración global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1380744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Configuración global (una sola vez)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559052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 'Juan Damián'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737360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'juan@ctt.edu.uy'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915668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core.editor 'code --wait'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093976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init.defaultBranch main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272284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pull.rebase false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450592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alias.lg "log --oneline --graph --all"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628900"/>
            <a:ext cx="39319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   # Verificar configuración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99232"/>
            <a:ext cx="416052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2999232"/>
            <a:ext cx="36576" cy="38404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" y="29992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57984" y="299923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repositorio en el directorio actual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438144"/>
            <a:ext cx="41605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438144"/>
            <a:ext cx="36576" cy="3840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" y="34381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57984" y="343814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 repositorio remoto completo (historia incluida)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877056"/>
            <a:ext cx="416052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3877056"/>
            <a:ext cx="36576" cy="38404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0" name="Text 38"/>
          <p:cNvSpPr/>
          <p:nvPr/>
        </p:nvSpPr>
        <p:spPr>
          <a:xfrm>
            <a:off x="402336" y="38770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157984" y="387705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estado actual: untracked, staged, modified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315968"/>
            <a:ext cx="41605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3" name="Shape 41"/>
          <p:cNvSpPr/>
          <p:nvPr/>
        </p:nvSpPr>
        <p:spPr>
          <a:xfrm>
            <a:off x="274320" y="4315968"/>
            <a:ext cx="36576" cy="38404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" y="43159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&lt;archivo&gt;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57984" y="43159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archivo al staging area para el próximo commit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90288" y="2999232"/>
            <a:ext cx="416052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7" name="Shape 45"/>
          <p:cNvSpPr/>
          <p:nvPr/>
        </p:nvSpPr>
        <p:spPr>
          <a:xfrm>
            <a:off x="4590288" y="2999232"/>
            <a:ext cx="36576" cy="38404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8" name="Text 46"/>
          <p:cNvSpPr/>
          <p:nvPr/>
        </p:nvSpPr>
        <p:spPr>
          <a:xfrm>
            <a:off x="4718304" y="29992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-p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73952" y="299923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interactivo: elegir qué partes de cada archivo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90288" y="3438144"/>
            <a:ext cx="41605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1" name="Shape 49"/>
          <p:cNvSpPr/>
          <p:nvPr/>
        </p:nvSpPr>
        <p:spPr>
          <a:xfrm>
            <a:off x="4590288" y="3438144"/>
            <a:ext cx="36576" cy="38404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52" name="Text 50"/>
          <p:cNvSpPr/>
          <p:nvPr/>
        </p:nvSpPr>
        <p:spPr>
          <a:xfrm>
            <a:off x="4718304" y="343814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'...'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73952" y="343814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snapshot del staging area con mensaje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90288" y="3877056"/>
            <a:ext cx="416052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5" name="Shape 53"/>
          <p:cNvSpPr/>
          <p:nvPr/>
        </p:nvSpPr>
        <p:spPr>
          <a:xfrm>
            <a:off x="4590288" y="3877056"/>
            <a:ext cx="36576" cy="38404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6" name="Text 54"/>
          <p:cNvSpPr/>
          <p:nvPr/>
        </p:nvSpPr>
        <p:spPr>
          <a:xfrm>
            <a:off x="4718304" y="38770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73952" y="387705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 compacto de commits (1 línea c/u)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90288" y="4315968"/>
            <a:ext cx="4160520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9" name="Shape 57"/>
          <p:cNvSpPr/>
          <p:nvPr/>
        </p:nvSpPr>
        <p:spPr>
          <a:xfrm>
            <a:off x="4590288" y="4315968"/>
            <a:ext cx="36576" cy="3840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0" name="Text 58"/>
          <p:cNvSpPr/>
          <p:nvPr/>
        </p:nvSpPr>
        <p:spPr>
          <a:xfrm>
            <a:off x="4718304" y="43159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73952" y="43159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cambios no staged · git diff --staged para staged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BRANCHING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— El núcleo del trabajo colaborativo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branch es simplemente un puntero móvil a un commit — crear/eliminar es instantáneo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764792"/>
            <a:ext cx="329184" cy="329184"/>
          </a:xfrm>
          <a:prstGeom prst="oval">
            <a:avLst/>
          </a:prstGeom>
          <a:solidFill>
            <a:srgbClr val="39D353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73936" y="1764792"/>
            <a:ext cx="329184" cy="329184"/>
          </a:xfrm>
          <a:prstGeom prst="oval">
            <a:avLst/>
          </a:prstGeom>
          <a:solidFill>
            <a:srgbClr val="39D353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1901952"/>
            <a:ext cx="969264" cy="1828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3" name="Text 11"/>
          <p:cNvSpPr/>
          <p:nvPr/>
        </p:nvSpPr>
        <p:spPr>
          <a:xfrm>
            <a:off x="1773936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72384" y="1764792"/>
            <a:ext cx="329184" cy="329184"/>
          </a:xfrm>
          <a:prstGeom prst="oval">
            <a:avLst/>
          </a:prstGeom>
          <a:solidFill>
            <a:srgbClr val="39D353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901952"/>
            <a:ext cx="969264" cy="1828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6" name="Text 14"/>
          <p:cNvSpPr/>
          <p:nvPr/>
        </p:nvSpPr>
        <p:spPr>
          <a:xfrm>
            <a:off x="3072384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70832" y="1764792"/>
            <a:ext cx="329184" cy="329184"/>
          </a:xfrm>
          <a:prstGeom prst="oval">
            <a:avLst/>
          </a:prstGeom>
          <a:solidFill>
            <a:srgbClr val="39D353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1901952"/>
            <a:ext cx="969264" cy="1828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9" name="Text 17"/>
          <p:cNvSpPr/>
          <p:nvPr/>
        </p:nvSpPr>
        <p:spPr>
          <a:xfrm>
            <a:off x="437083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1764792"/>
            <a:ext cx="329184" cy="329184"/>
          </a:xfrm>
          <a:prstGeom prst="oval">
            <a:avLst/>
          </a:prstGeom>
          <a:solidFill>
            <a:srgbClr val="39D353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901952"/>
            <a:ext cx="969264" cy="1828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67728" y="1764792"/>
            <a:ext cx="329184" cy="329184"/>
          </a:xfrm>
          <a:prstGeom prst="oval">
            <a:avLst/>
          </a:prstGeom>
          <a:solidFill>
            <a:srgbClr val="39D353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8464" y="1901952"/>
            <a:ext cx="969264" cy="1828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5" name="Text 23"/>
          <p:cNvSpPr/>
          <p:nvPr/>
        </p:nvSpPr>
        <p:spPr>
          <a:xfrm>
            <a:off x="6967728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60336" y="1636776"/>
            <a:ext cx="548640" cy="256032"/>
          </a:xfrm>
          <a:prstGeom prst="rect">
            <a:avLst/>
          </a:prstGeom>
          <a:solidFill>
            <a:srgbClr val="39D353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260336" y="16367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1801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08376" y="1234440"/>
            <a:ext cx="329184" cy="329184"/>
          </a:xfrm>
          <a:prstGeom prst="oval">
            <a:avLst/>
          </a:prstGeom>
          <a:solidFill>
            <a:srgbClr val="58A6FF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08376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1399032"/>
            <a:ext cx="905256" cy="18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103120" y="1399032"/>
            <a:ext cx="18288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242816" y="1234440"/>
            <a:ext cx="329184" cy="329184"/>
          </a:xfrm>
          <a:prstGeom prst="oval">
            <a:avLst/>
          </a:prstGeom>
          <a:solidFill>
            <a:srgbClr val="58A6FF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42816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37560" y="1380744"/>
            <a:ext cx="905256" cy="18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77256" y="1234440"/>
            <a:ext cx="329184" cy="329184"/>
          </a:xfrm>
          <a:prstGeom prst="oval">
            <a:avLst/>
          </a:prstGeom>
          <a:solidFill>
            <a:srgbClr val="58A6FF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77256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1380744"/>
            <a:ext cx="905256" cy="18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9" name="Text 37"/>
          <p:cNvSpPr/>
          <p:nvPr/>
        </p:nvSpPr>
        <p:spPr>
          <a:xfrm>
            <a:off x="2880360" y="10332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feature/qr-scan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06440" y="1380744"/>
            <a:ext cx="1325880" cy="182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1" name="Shape 39"/>
          <p:cNvSpPr/>
          <p:nvPr/>
        </p:nvSpPr>
        <p:spPr>
          <a:xfrm>
            <a:off x="7114032" y="1380744"/>
            <a:ext cx="18288" cy="5486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2" name="Text 40"/>
          <p:cNvSpPr/>
          <p:nvPr/>
        </p:nvSpPr>
        <p:spPr>
          <a:xfrm>
            <a:off x="5897880" y="11887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2331720"/>
            <a:ext cx="4160520" cy="5120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2331720"/>
            <a:ext cx="36576" cy="512064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5" name="Text 43"/>
          <p:cNvSpPr/>
          <p:nvPr/>
        </p:nvSpPr>
        <p:spPr>
          <a:xfrm>
            <a:off x="384048" y="2331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23744" y="233172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branches locales (* = actual)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2898648"/>
            <a:ext cx="416052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Shape 46"/>
          <p:cNvSpPr/>
          <p:nvPr/>
        </p:nvSpPr>
        <p:spPr>
          <a:xfrm>
            <a:off x="274320" y="2898648"/>
            <a:ext cx="36576" cy="512064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" y="2898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23744" y="289864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todas incluidas remotas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3465576"/>
            <a:ext cx="4160520" cy="5120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2" name="Shape 50"/>
          <p:cNvSpPr/>
          <p:nvPr/>
        </p:nvSpPr>
        <p:spPr>
          <a:xfrm>
            <a:off x="274320" y="3465576"/>
            <a:ext cx="36576" cy="5120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3" name="Text 51"/>
          <p:cNvSpPr/>
          <p:nvPr/>
        </p:nvSpPr>
        <p:spPr>
          <a:xfrm>
            <a:off x="384048" y="34655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feature/login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23744" y="3465576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cambiar a nueva branch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032504"/>
            <a:ext cx="416052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6" name="Shape 54"/>
          <p:cNvSpPr/>
          <p:nvPr/>
        </p:nvSpPr>
        <p:spPr>
          <a:xfrm>
            <a:off x="274320" y="4032504"/>
            <a:ext cx="36576" cy="5120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7" name="Text 55"/>
          <p:cNvSpPr/>
          <p:nvPr/>
        </p:nvSpPr>
        <p:spPr>
          <a:xfrm>
            <a:off x="384048" y="40325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feature/login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523744" y="4032504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moderno (Git 2.23+)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90288" y="2331720"/>
            <a:ext cx="4160520" cy="5120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0" name="Shape 58"/>
          <p:cNvSpPr/>
          <p:nvPr/>
        </p:nvSpPr>
        <p:spPr>
          <a:xfrm>
            <a:off x="4590288" y="2331720"/>
            <a:ext cx="36576" cy="5120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1" name="Text 59"/>
          <p:cNvSpPr/>
          <p:nvPr/>
        </p:nvSpPr>
        <p:spPr>
          <a:xfrm>
            <a:off x="4700016" y="2331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feature/login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839712" y="233172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branch (solo si merged)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90288" y="2898648"/>
            <a:ext cx="416052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4" name="Shape 62"/>
          <p:cNvSpPr/>
          <p:nvPr/>
        </p:nvSpPr>
        <p:spPr>
          <a:xfrm>
            <a:off x="4590288" y="2898648"/>
            <a:ext cx="36576" cy="5120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5" name="Text 63"/>
          <p:cNvSpPr/>
          <p:nvPr/>
        </p:nvSpPr>
        <p:spPr>
          <a:xfrm>
            <a:off x="4700016" y="2898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feature/login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839712" y="289864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 eliminación (sin verificar merge)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90288" y="3465576"/>
            <a:ext cx="4160520" cy="5120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8" name="Shape 66"/>
          <p:cNvSpPr/>
          <p:nvPr/>
        </p:nvSpPr>
        <p:spPr>
          <a:xfrm>
            <a:off x="4590288" y="3465576"/>
            <a:ext cx="36576" cy="5120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69" name="Text 67"/>
          <p:cNvSpPr/>
          <p:nvPr/>
        </p:nvSpPr>
        <p:spPr>
          <a:xfrm>
            <a:off x="4700016" y="34655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feature/login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39712" y="3465576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Fusionar branch en la actual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90288" y="4032504"/>
            <a:ext cx="4160520" cy="5120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2" name="Shape 70"/>
          <p:cNvSpPr/>
          <p:nvPr/>
        </p:nvSpPr>
        <p:spPr>
          <a:xfrm>
            <a:off x="4590288" y="4032504"/>
            <a:ext cx="36576" cy="5120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73" name="Text 71"/>
          <p:cNvSpPr/>
          <p:nvPr/>
        </p:nvSpPr>
        <p:spPr>
          <a:xfrm>
            <a:off x="4700016" y="40325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--no-ff feature/x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839712" y="4032504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 explícito (preserva historia)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BRANCHING STRATEGIES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Branching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29768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4297680" cy="365760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51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 — Flujo tradicional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1508760"/>
            <a:ext cx="4078224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" y="1508760"/>
            <a:ext cx="36576" cy="402336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1508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36192" y="15087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código listo para producción. Cada merge = release.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1984248"/>
            <a:ext cx="4078224" cy="40233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6" name="Shape 14"/>
          <p:cNvSpPr/>
          <p:nvPr/>
        </p:nvSpPr>
        <p:spPr>
          <a:xfrm>
            <a:off x="384048" y="1984248"/>
            <a:ext cx="36576" cy="40233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19842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36192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 de features. Base de desarrollo.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459736"/>
            <a:ext cx="4078224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" y="2459736"/>
            <a:ext cx="36576" cy="40233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" y="24597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36192" y="245973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historia de usuario. Nace y muere en develop.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2935224"/>
            <a:ext cx="4078224" cy="40233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" y="2935224"/>
            <a:ext cx="36576" cy="40233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" y="29352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release/*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36192" y="29352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del release. Bugfixes menores y versioning.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410712"/>
            <a:ext cx="4078224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Shape 26"/>
          <p:cNvSpPr/>
          <p:nvPr/>
        </p:nvSpPr>
        <p:spPr>
          <a:xfrm>
            <a:off x="384048" y="3410712"/>
            <a:ext cx="36576" cy="40233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34107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hotfix/*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36192" y="34107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urgente en producción. Merge a main Y develop.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3986784"/>
            <a:ext cx="4078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 para: releases planificadas, software con versiones múltiples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Desventaja: complejo, merges tardíos, integración lenta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051560"/>
            <a:ext cx="411480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solidFill>
            <a:srgbClr val="39D353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— DevOps moderno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64608" y="1508760"/>
            <a:ext cx="3895344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6" name="Shape 34"/>
          <p:cNvSpPr/>
          <p:nvPr/>
        </p:nvSpPr>
        <p:spPr>
          <a:xfrm>
            <a:off x="4864608" y="1508760"/>
            <a:ext cx="36576" cy="402336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7" name="Text 35"/>
          <p:cNvSpPr/>
          <p:nvPr/>
        </p:nvSpPr>
        <p:spPr>
          <a:xfrm>
            <a:off x="4974336" y="1508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(trunk)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19088" y="1508760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única de integración. Siempre deployable.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1984248"/>
            <a:ext cx="3895344" cy="40233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0" name="Shape 38"/>
          <p:cNvSpPr/>
          <p:nvPr/>
        </p:nvSpPr>
        <p:spPr>
          <a:xfrm>
            <a:off x="4864608" y="1984248"/>
            <a:ext cx="36576" cy="40233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74336" y="19842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19088" y="1984248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cortas: ≤ 2 días de vida. Merge frecuente.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64608" y="2459736"/>
            <a:ext cx="3895344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4" name="Shape 42"/>
          <p:cNvSpPr/>
          <p:nvPr/>
        </p:nvSpPr>
        <p:spPr>
          <a:xfrm>
            <a:off x="4864608" y="2459736"/>
            <a:ext cx="36576" cy="40233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5" name="Text 43"/>
          <p:cNvSpPr/>
          <p:nvPr/>
        </p:nvSpPr>
        <p:spPr>
          <a:xfrm>
            <a:off x="4974336" y="24597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release/*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19088" y="245973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branch de release para stabilization.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64608" y="2505456"/>
            <a:ext cx="3895344" cy="621792"/>
          </a:xfrm>
          <a:prstGeom prst="rect">
            <a:avLst/>
          </a:prstGeom>
          <a:solidFill>
            <a:srgbClr val="39D353">
              <a:alpha val="12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2523744"/>
            <a:ext cx="37856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🏳️ Feature Flags — código incompleto en main pero deshabilitado en runtime (config/env var). Permite integración sin exposición al usuario.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19472" y="321868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Commits a main al menos 1 vez/día por developer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19472" y="358444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Pull Requests pequeños (&lt; 400 líneas cambiadas)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19472" y="395020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Pipeline CI obligatorio antes de merge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919472" y="431596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Feature flags para código en construcción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64608" y="4206240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 para: equipos DevOps, despliegue continuo, CI/CD maduro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vs REBASE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vs Rebase — ¿Cuándo usar cada uno?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20624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4206240" cy="365760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— Preserva la historia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1801368"/>
            <a:ext cx="640080" cy="1828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13432"/>
            <a:ext cx="640080" cy="18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568" y="1801368"/>
            <a:ext cx="18288" cy="38404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" y="2185416"/>
            <a:ext cx="493776" cy="18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572768" y="1801368"/>
            <a:ext cx="18288" cy="38404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527048"/>
            <a:ext cx="274320" cy="274320"/>
          </a:xfrm>
          <a:prstGeom prst="oval">
            <a:avLst/>
          </a:prstGeom>
          <a:solidFill>
            <a:srgbClr val="39D35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1527048"/>
            <a:ext cx="274320" cy="274320"/>
          </a:xfrm>
          <a:prstGeom prst="oval">
            <a:avLst/>
          </a:prstGeom>
          <a:solidFill>
            <a:srgbClr val="39D353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039112"/>
            <a:ext cx="274320" cy="274320"/>
          </a:xfrm>
          <a:prstGeom prst="oval">
            <a:avLst/>
          </a:prstGeom>
          <a:solidFill>
            <a:srgbClr val="58A6F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2039112"/>
            <a:ext cx="274320" cy="274320"/>
          </a:xfrm>
          <a:prstGeom prst="oval">
            <a:avLst/>
          </a:prstGeom>
          <a:solidFill>
            <a:srgbClr val="58A6F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37360" y="1783080"/>
            <a:ext cx="274320" cy="274320"/>
          </a:xfrm>
          <a:prstGeom prst="oval">
            <a:avLst/>
          </a:prstGeom>
          <a:solidFill>
            <a:srgbClr val="BC8CF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235915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Preserva el historial real del proyecto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Trazabilidad de features completa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reescribe commits existentes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Historial no-lineal (más difícil de leer)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Merge commits extra en el log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" y="3712464"/>
            <a:ext cx="3977640" cy="347472"/>
          </a:xfrm>
          <a:prstGeom prst="rect">
            <a:avLst/>
          </a:prstGeom>
          <a:solidFill>
            <a:srgbClr val="BC8CFF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3712464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Usar en: merge a main/develop, integraciones entre ramas principales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051560"/>
            <a:ext cx="416052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051560"/>
            <a:ext cx="4160520" cy="365760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10515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rebase — Historia lineal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0600" y="1499616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Historia lineal y limpia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 log fácil de leer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Ideal para PRs antes de mergear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Reescribe el SHA de commits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NUNCA en ramas compartidas/main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73168" y="2798064"/>
            <a:ext cx="3950208" cy="1920240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2798064"/>
            <a:ext cx="3950208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279806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rebase-workflow.sh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64608" y="3127248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Estás en feature/qr-scan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4608" y="3305556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608" y="3483864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origin/main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4608" y="3662172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hay conflictos: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64608" y="3840480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# Ver archivos en conflicto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4608" y="4018788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editar y resolver conflictos ...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4197096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archivo-resuelto.js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64608" y="4375404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--continue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64608" y="4553712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abortar: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64608" y="4732020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--abort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64608" y="4910328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Interactive rebase (squash, reword):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64608" y="5088636"/>
            <a:ext cx="376732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-i HEAD~3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73168" y="4681728"/>
            <a:ext cx="3950208" cy="36576"/>
          </a:xfrm>
          <a:prstGeom prst="rect">
            <a:avLst/>
          </a:prstGeom>
          <a:solidFill>
            <a:srgbClr val="F8514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CONFLICTOS GIT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Conflictos — Sin Miedo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conflicto = dos personas editaron la misma línea. Git lo marca, tú decides.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297680" cy="1993392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51560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051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registro.js — Archivo en conflicto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38074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  (tus cambios — rama actual)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55905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registrarAsistencia(qrCode, alumnoId)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73736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await db.insert({ qrCode, alumnoId });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91566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ok: true, id: result.insertId };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09397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  (separador)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27228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registrarAsistencia(qr, userId) {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5059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ts = new Date().toISOString();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62890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 db.attendance.create({ qr, userId, ts });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80720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feature/refactor-db  (cambios entrantes)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45536"/>
            <a:ext cx="4297680" cy="1600200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45536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1455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registro.js — Resuelto 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47472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Resolución: combinar ambas versiones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65302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registrarAsistencia(qrCode, alumnoId) {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83133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ts = new Date().toISOString();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00964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await db.attendance.create({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18795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qrCode, alumnoId, timestamp: 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36626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ok: true, id: result.insertId, ts };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72287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90118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git add registro.js  &amp;&amp;  git merge --continue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051560"/>
            <a:ext cx="4069080" cy="676656"/>
          </a:xfrm>
          <a:prstGeom prst="rect">
            <a:avLst/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51560"/>
            <a:ext cx="54864" cy="67665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8032" y="1161288"/>
            <a:ext cx="292608" cy="292608"/>
          </a:xfrm>
          <a:prstGeom prst="rect">
            <a:avLst/>
          </a:prstGeom>
          <a:solidFill>
            <a:srgbClr val="F85149">
              <a:alpha val="8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110642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conflicto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1380744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o rebase reporta conflicto.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muestra archivos marcados con UU (unmerged).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1801368"/>
            <a:ext cx="4069080" cy="676656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801368"/>
            <a:ext cx="54864" cy="67665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1911096"/>
            <a:ext cx="292608" cy="292608"/>
          </a:xfrm>
          <a:prstGeom prst="rect">
            <a:avLst/>
          </a:prstGeom>
          <a:solidFill>
            <a:srgbClr val="F0883E">
              <a:alpha val="8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12080" y="185623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entender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2130552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&lt;&lt;&lt;&lt;&lt; / ===== / &gt;&gt;&gt;&gt;&gt; indica: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tu rama · entrante = rama a fusionar.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2551176"/>
            <a:ext cx="4069080" cy="676656"/>
          </a:xfrm>
          <a:prstGeom prst="rect">
            <a:avLst/>
          </a:prstGeom>
          <a:solidFill>
            <a:srgbClr val="161B22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551176"/>
            <a:ext cx="54864" cy="676656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47" name="Shape 45"/>
          <p:cNvSpPr/>
          <p:nvPr/>
        </p:nvSpPr>
        <p:spPr>
          <a:xfrm>
            <a:off x="4828032" y="2660904"/>
            <a:ext cx="292608" cy="292608"/>
          </a:xfrm>
          <a:prstGeom prst="rect">
            <a:avLst/>
          </a:prstGeom>
          <a:solidFill>
            <a:srgbClr val="39D353">
              <a:alpha val="8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828032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12080" y="26060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y decidir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12080" y="2880360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los markers y dejar el código correcto.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HEAD, entrante o una combinación de ambos.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3300984"/>
            <a:ext cx="4069080" cy="676656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3300984"/>
            <a:ext cx="54864" cy="67665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3" name="Shape 51"/>
          <p:cNvSpPr/>
          <p:nvPr/>
        </p:nvSpPr>
        <p:spPr>
          <a:xfrm>
            <a:off x="4828032" y="3410712"/>
            <a:ext cx="292608" cy="292608"/>
          </a:xfrm>
          <a:prstGeom prst="rect">
            <a:avLst/>
          </a:prstGeom>
          <a:solidFill>
            <a:srgbClr val="58A6FF">
              <a:alpha val="82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828032" y="3410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212080" y="335584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resuelto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12080" y="3630168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archivo.js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archivo resuelto. NO hacer commit aún.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54880" y="4050792"/>
            <a:ext cx="4069080" cy="676656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754880" y="4050792"/>
            <a:ext cx="54864" cy="67665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59" name="Shape 57"/>
          <p:cNvSpPr/>
          <p:nvPr/>
        </p:nvSpPr>
        <p:spPr>
          <a:xfrm>
            <a:off x="4828032" y="4160520"/>
            <a:ext cx="292608" cy="292608"/>
          </a:xfrm>
          <a:prstGeom prst="rect">
            <a:avLst/>
          </a:prstGeom>
          <a:solidFill>
            <a:srgbClr val="BC8CFF">
              <a:alpha val="8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828032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212080" y="410565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operación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212080" y="437997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--continue o git rebase --continue.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crea el commit de merge automáticamente.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54880" y="4773168"/>
            <a:ext cx="406908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— REMOTE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Push, Pull, Fetch y Clone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flujo diario entre repositorio local y GitHub Remote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011680" cy="1005840"/>
          </a:xfrm>
          <a:prstGeom prst="rect">
            <a:avLst/>
          </a:prstGeom>
          <a:solidFill>
            <a:srgbClr val="58A6FF">
              <a:alpha val="14000"/>
            </a:srgbClr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26187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261872"/>
            <a:ext cx="2011680" cy="1005840"/>
          </a:xfrm>
          <a:prstGeom prst="rect">
            <a:avLst/>
          </a:prstGeom>
          <a:solidFill>
            <a:srgbClr val="F0883E">
              <a:alpha val="14000"/>
            </a:srgbClr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26187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1261872"/>
            <a:ext cx="2011680" cy="1005840"/>
          </a:xfrm>
          <a:prstGeom prst="rect">
            <a:avLst/>
          </a:prstGeom>
          <a:solidFill>
            <a:srgbClr val="BC8CFF">
              <a:alpha val="14000"/>
            </a:srgbClr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26187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compañero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536192"/>
            <a:ext cx="1216152" cy="18288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16" name="Text 14"/>
          <p:cNvSpPr/>
          <p:nvPr/>
        </p:nvSpPr>
        <p:spPr>
          <a:xfrm>
            <a:off x="3419856" y="1426464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04872" y="13533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1847088"/>
            <a:ext cx="1216152" cy="18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1737360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04872" y="1664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fetch/pull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96128" y="1536192"/>
            <a:ext cx="1197864" cy="182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5596128" y="1426464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0" y="1353312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96128" y="1847088"/>
            <a:ext cx="1197864" cy="1828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5" name="Text 23"/>
          <p:cNvSpPr/>
          <p:nvPr/>
        </p:nvSpPr>
        <p:spPr>
          <a:xfrm>
            <a:off x="6665976" y="1737360"/>
            <a:ext cx="128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0" y="166420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487168"/>
            <a:ext cx="416052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2487168"/>
            <a:ext cx="36576" cy="402336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4871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32304" y="24871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remotes configurados y sus URLs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944368"/>
            <a:ext cx="41605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2944368"/>
            <a:ext cx="36576" cy="402336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29443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32304" y="2944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Asociar repositorio local con GitHub remote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401568"/>
            <a:ext cx="416052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401568"/>
            <a:ext cx="36576" cy="40233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4015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32304" y="34015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configurar tracking (solo primera vez)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858768"/>
            <a:ext cx="41605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3858768"/>
            <a:ext cx="36576" cy="40233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3858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432304" y="38587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la rama rastreada (después del -u)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315968"/>
            <a:ext cx="416052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4315968"/>
            <a:ext cx="36576" cy="40233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5" name="Text 43"/>
          <p:cNvSpPr/>
          <p:nvPr/>
        </p:nvSpPr>
        <p:spPr>
          <a:xfrm>
            <a:off x="384048" y="4315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432304" y="43159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cambios remotos SIN aplicar al working tree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90288" y="2487168"/>
            <a:ext cx="416052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8" name="Shape 46"/>
          <p:cNvSpPr/>
          <p:nvPr/>
        </p:nvSpPr>
        <p:spPr>
          <a:xfrm>
            <a:off x="4590288" y="2487168"/>
            <a:ext cx="36576" cy="40233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9" name="Text 47"/>
          <p:cNvSpPr/>
          <p:nvPr/>
        </p:nvSpPr>
        <p:spPr>
          <a:xfrm>
            <a:off x="4700016" y="24871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48272" y="24871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merge (o rebase si configurado)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90288" y="2944368"/>
            <a:ext cx="41605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4590288" y="2944368"/>
            <a:ext cx="36576" cy="40233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53" name="Text 51"/>
          <p:cNvSpPr/>
          <p:nvPr/>
        </p:nvSpPr>
        <p:spPr>
          <a:xfrm>
            <a:off x="4700016" y="29443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--rebase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48272" y="29443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rebase sobre rama remota (historial limpio)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90288" y="3401568"/>
            <a:ext cx="416052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6" name="Shape 54"/>
          <p:cNvSpPr/>
          <p:nvPr/>
        </p:nvSpPr>
        <p:spPr>
          <a:xfrm>
            <a:off x="4590288" y="3401568"/>
            <a:ext cx="36576" cy="40233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57" name="Text 55"/>
          <p:cNvSpPr/>
          <p:nvPr/>
        </p:nvSpPr>
        <p:spPr>
          <a:xfrm>
            <a:off x="4700016" y="34015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 [carpeta]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748272" y="34015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 repo completo con historia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90288" y="3858768"/>
            <a:ext cx="416052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0" name="Shape 58"/>
          <p:cNvSpPr/>
          <p:nvPr/>
        </p:nvSpPr>
        <p:spPr>
          <a:xfrm>
            <a:off x="4590288" y="3858768"/>
            <a:ext cx="36576" cy="40233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1" name="Text 59"/>
          <p:cNvSpPr/>
          <p:nvPr/>
        </p:nvSpPr>
        <p:spPr>
          <a:xfrm>
            <a:off x="4700016" y="38587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--delete branch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748272" y="38587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branch del remote (post-merge)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90288" y="4315968"/>
            <a:ext cx="4160520" cy="40233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4" name="Shape 62"/>
          <p:cNvSpPr/>
          <p:nvPr/>
        </p:nvSpPr>
        <p:spPr>
          <a:xfrm>
            <a:off x="4590288" y="4315968"/>
            <a:ext cx="36576" cy="402336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5" name="Text 63"/>
          <p:cNvSpPr/>
          <p:nvPr/>
        </p:nvSpPr>
        <p:spPr>
          <a:xfrm>
            <a:off x="4700016" y="43159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set-url origin &lt;url&gt;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748272" y="43159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URL del remote (de HTTPS a SSH)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REQUESTS &amp; CODE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— La puerta de calidad del equipo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PR no es solo código — es una conversación de calidad antes de integrar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1316736" cy="1298448"/>
          </a:xfrm>
          <a:prstGeom prst="rect">
            <a:avLst/>
          </a:prstGeom>
          <a:solidFill>
            <a:srgbClr val="58A6FF">
              <a:alpha val="12000"/>
            </a:srgbClr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261872"/>
            <a:ext cx="329184" cy="201168"/>
          </a:xfrm>
          <a:prstGeom prst="rect">
            <a:avLst/>
          </a:prstGeom>
          <a:solidFill>
            <a:srgbClr val="58A6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261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499616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56032" y="197510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6032" y="22311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 desde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actualizado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572768" y="16459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700784" y="1261872"/>
            <a:ext cx="1316736" cy="1298448"/>
          </a:xfrm>
          <a:prstGeom prst="rect">
            <a:avLst/>
          </a:prstGeom>
          <a:solidFill>
            <a:srgbClr val="39D353">
              <a:alpha val="12000"/>
            </a:srgbClr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194560" y="1261872"/>
            <a:ext cx="329184" cy="201168"/>
          </a:xfrm>
          <a:prstGeom prst="rect">
            <a:avLst/>
          </a:prstGeom>
          <a:solidFill>
            <a:srgbClr val="39D353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194560" y="1261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499616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700784" y="197510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700784" y="22311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· pequeños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frecuentes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017520" y="16459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145536" y="1261872"/>
            <a:ext cx="1316736" cy="1298448"/>
          </a:xfrm>
          <a:prstGeom prst="rect">
            <a:avLst/>
          </a:prstGeom>
          <a:solidFill>
            <a:srgbClr val="BC8CFF">
              <a:alpha val="12000"/>
            </a:srgbClr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39312" y="1261872"/>
            <a:ext cx="329184" cy="201168"/>
          </a:xfrm>
          <a:prstGeom prst="rect">
            <a:avLst/>
          </a:prstGeom>
          <a:solidFill>
            <a:srgbClr val="BC8CFF">
              <a:alpha val="8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3639312" y="1261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499616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145536" y="197510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145536" y="22311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· draft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ready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462272" y="16459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4590288" y="1261872"/>
            <a:ext cx="1316736" cy="1298448"/>
          </a:xfrm>
          <a:prstGeom prst="rect">
            <a:avLst/>
          </a:prstGeom>
          <a:solidFill>
            <a:srgbClr val="F0883E">
              <a:alpha val="12000"/>
            </a:srgbClr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084064" y="1261872"/>
            <a:ext cx="329184" cy="201168"/>
          </a:xfrm>
          <a:prstGeom prst="rect">
            <a:avLst/>
          </a:prstGeom>
          <a:solidFill>
            <a:srgbClr val="F0883E">
              <a:alpha val="8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5084064" y="1261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99616"/>
            <a:ext cx="438912" cy="4389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590288" y="197510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90288" y="22311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aprueba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907024" y="16459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6035040" y="1261872"/>
            <a:ext cx="1316736" cy="1298448"/>
          </a:xfrm>
          <a:prstGeom prst="rect">
            <a:avLst/>
          </a:prstGeom>
          <a:solidFill>
            <a:srgbClr val="39D353">
              <a:alpha val="12000"/>
            </a:srgbClr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528816" y="1261872"/>
            <a:ext cx="329184" cy="201168"/>
          </a:xfrm>
          <a:prstGeom prst="rect">
            <a:avLst/>
          </a:prstGeom>
          <a:solidFill>
            <a:srgbClr val="39D353">
              <a:alpha val="8000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528816" y="1261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499616"/>
            <a:ext cx="438912" cy="43891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035040" y="197510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Verde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6035040" y="22311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lint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7351776" y="16459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7479792" y="1261872"/>
            <a:ext cx="1316736" cy="1298448"/>
          </a:xfrm>
          <a:prstGeom prst="rect">
            <a:avLst/>
          </a:prstGeom>
          <a:solidFill>
            <a:srgbClr val="D29922">
              <a:alpha val="12000"/>
            </a:srgbClr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7973568" y="1261872"/>
            <a:ext cx="329184" cy="201168"/>
          </a:xfrm>
          <a:prstGeom prst="rect">
            <a:avLst/>
          </a:prstGeom>
          <a:solidFill>
            <a:srgbClr val="D29922">
              <a:alpha val="8000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7973568" y="1261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1499616"/>
            <a:ext cx="438912" cy="43891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479792" y="197510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7479792" y="22311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/ Merge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Rebase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274320" y="2706624"/>
            <a:ext cx="4297680" cy="2048256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274320" y="2706624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2" name="Text 44"/>
          <p:cNvSpPr/>
          <p:nvPr/>
        </p:nvSpPr>
        <p:spPr>
          <a:xfrm>
            <a:off x="274320" y="27066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.github/PULL_REQUEST_TEMPLATE.md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365760" y="303580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📋 Descripción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365760" y="321411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 asistencia del alumno al escanear QR en puerta del aula.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365760" y="339242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🔗 Issues relacionados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365760" y="357073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 #42 — Feature: registro QR asistencia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365760" y="374904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✅ Checklist (Definition of Done)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365760" y="392734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Tests unitarios escritos (TDD)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365760" y="410565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Cobertura ≥ 80%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365760" y="428396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Sin vulnerabilidades (npm audit)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365760" y="446227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Documentación actualizada</a:t>
            </a:r>
            <a:endParaRPr lang="en-US" sz="900" dirty="0"/>
          </a:p>
        </p:txBody>
      </p:sp>
      <p:sp>
        <p:nvSpPr>
          <p:cNvPr id="62" name="Text 54"/>
          <p:cNvSpPr/>
          <p:nvPr/>
        </p:nvSpPr>
        <p:spPr>
          <a:xfrm>
            <a:off x="365760" y="464058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📸 Screenshots / Demo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365760" y="481888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🧪 Instrucciones de testing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4754880" y="2706624"/>
            <a:ext cx="4069080" cy="2048256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5" name="Shape 57"/>
          <p:cNvSpPr/>
          <p:nvPr/>
        </p:nvSpPr>
        <p:spPr>
          <a:xfrm>
            <a:off x="4754880" y="2706624"/>
            <a:ext cx="4069080" cy="347472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66" name="Text 58"/>
          <p:cNvSpPr/>
          <p:nvPr/>
        </p:nvSpPr>
        <p:spPr>
          <a:xfrm>
            <a:off x="4754880" y="270662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Code Review — Buenas Prácticas</a:t>
            </a:r>
            <a:endParaRPr lang="en-US" sz="1150" dirty="0"/>
          </a:p>
        </p:txBody>
      </p:sp>
      <p:sp>
        <p:nvSpPr>
          <p:cNvPr id="67" name="Text 59"/>
          <p:cNvSpPr/>
          <p:nvPr/>
        </p:nvSpPr>
        <p:spPr>
          <a:xfrm>
            <a:off x="4864608" y="3127248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Comentar el QUÉ y el POR QUÉ, no solo el cómo</a:t>
            </a:r>
            <a:endParaRPr lang="en-US" sz="1050" dirty="0"/>
          </a:p>
        </p:txBody>
      </p:sp>
      <p:sp>
        <p:nvSpPr>
          <p:cNvPr id="68" name="Text 60"/>
          <p:cNvSpPr/>
          <p:nvPr/>
        </p:nvSpPr>
        <p:spPr>
          <a:xfrm>
            <a:off x="4864608" y="346557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 pequeños (&lt; 400 líneas) — fácil de revisar</a:t>
            </a:r>
            <a:endParaRPr lang="en-US" sz="1050" dirty="0"/>
          </a:p>
        </p:txBody>
      </p:sp>
      <p:sp>
        <p:nvSpPr>
          <p:cNvPr id="69" name="Text 61"/>
          <p:cNvSpPr/>
          <p:nvPr/>
        </p:nvSpPr>
        <p:spPr>
          <a:xfrm>
            <a:off x="4864608" y="380390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Usar sugerencias (suggestion blocks) para cambios</a:t>
            </a:r>
            <a:endParaRPr lang="en-US" sz="1050" dirty="0"/>
          </a:p>
        </p:txBody>
      </p:sp>
      <p:sp>
        <p:nvSpPr>
          <p:cNvPr id="70" name="Text 62"/>
          <p:cNvSpPr/>
          <p:nvPr/>
        </p:nvSpPr>
        <p:spPr>
          <a:xfrm>
            <a:off x="4864608" y="414223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Separar must-fix de nice-to-have en comentarios</a:t>
            </a:r>
            <a:endParaRPr lang="en-US" sz="1050" dirty="0"/>
          </a:p>
        </p:txBody>
      </p:sp>
      <p:sp>
        <p:nvSpPr>
          <p:cNvPr id="71" name="Text 63"/>
          <p:cNvSpPr/>
          <p:nvPr/>
        </p:nvSpPr>
        <p:spPr>
          <a:xfrm>
            <a:off x="4864608" y="448056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Rechazar sin explicación clara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4864608" y="4818888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Reviews que tardan &gt; 24 horas (bloquean al equipo)</a:t>
            </a:r>
            <a:endParaRPr lang="en-US" sz="1050" dirty="0"/>
          </a:p>
        </p:txBody>
      </p:sp>
      <p:sp>
        <p:nvSpPr>
          <p:cNvPr id="73" name="Text 65"/>
          <p:cNvSpPr/>
          <p:nvPr/>
        </p:nvSpPr>
        <p:spPr>
          <a:xfrm>
            <a:off x="4864608" y="515721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Aprobar sin leer el código (rubber stamp)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CONVENTIONAL COMMITS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+ Semantic Versioning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Commits legibles por humanos Y por máquinas — base de changelogs y releases automáticos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566928"/>
          </a:xfrm>
          <a:prstGeom prst="rect">
            <a:avLst/>
          </a:prstGeom>
          <a:solidFill>
            <a:srgbClr val="010409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25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1225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225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1225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1225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91056" y="1225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19072" y="1225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 QR scan endpoint with JWT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15727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22960" y="15727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389888" y="15727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BREAKING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719072" y="157276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descripción imperativa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416052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1828800"/>
            <a:ext cx="36576" cy="457200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17904" y="1901952"/>
            <a:ext cx="713232" cy="310896"/>
          </a:xfrm>
          <a:prstGeom prst="rect">
            <a:avLst/>
          </a:prstGeom>
          <a:solidFill>
            <a:srgbClr val="39D353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17904" y="19019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04288" y="1828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funcionalidad para el usuario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340864"/>
            <a:ext cx="416052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2340864"/>
            <a:ext cx="36576" cy="4572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17904" y="2414016"/>
            <a:ext cx="713232" cy="310896"/>
          </a:xfrm>
          <a:prstGeom prst="rect">
            <a:avLst/>
          </a:prstGeom>
          <a:solidFill>
            <a:srgbClr val="F0883E">
              <a:alpha val="2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517904" y="241401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04288" y="23408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bug para el usuario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852928"/>
            <a:ext cx="416052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2852928"/>
            <a:ext cx="36576" cy="4572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517904" y="2926080"/>
            <a:ext cx="713232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Text 35"/>
          <p:cNvSpPr/>
          <p:nvPr/>
        </p:nvSpPr>
        <p:spPr>
          <a:xfrm>
            <a:off x="1517904" y="29260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04288" y="28529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cambios en documentación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364992"/>
            <a:ext cx="416052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3364992"/>
            <a:ext cx="36576" cy="4572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517904" y="3438144"/>
            <a:ext cx="713232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3" name="Text 41"/>
          <p:cNvSpPr/>
          <p:nvPr/>
        </p:nvSpPr>
        <p:spPr>
          <a:xfrm>
            <a:off x="1517904" y="343814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304288" y="33649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Formato, espacios — sin cambio de lógica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877056"/>
            <a:ext cx="416052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3877056"/>
            <a:ext cx="36576" cy="4572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517904" y="3950208"/>
            <a:ext cx="713232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Text 47"/>
          <p:cNvSpPr/>
          <p:nvPr/>
        </p:nvSpPr>
        <p:spPr>
          <a:xfrm>
            <a:off x="1517904" y="39502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304288" y="387705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sin nuevo feature ni fix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90288" y="1828800"/>
            <a:ext cx="416052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2" name="Shape 50"/>
          <p:cNvSpPr/>
          <p:nvPr/>
        </p:nvSpPr>
        <p:spPr>
          <a:xfrm>
            <a:off x="4590288" y="1828800"/>
            <a:ext cx="36576" cy="4572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3" name="Text 51"/>
          <p:cNvSpPr/>
          <p:nvPr/>
        </p:nvSpPr>
        <p:spPr>
          <a:xfrm>
            <a:off x="4700016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33872" y="1901952"/>
            <a:ext cx="713232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5" name="Text 53"/>
          <p:cNvSpPr/>
          <p:nvPr/>
        </p:nvSpPr>
        <p:spPr>
          <a:xfrm>
            <a:off x="5833872" y="1901952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20256" y="1828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o corregir tests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90288" y="2340864"/>
            <a:ext cx="416052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8" name="Shape 56"/>
          <p:cNvSpPr/>
          <p:nvPr/>
        </p:nvSpPr>
        <p:spPr>
          <a:xfrm>
            <a:off x="4590288" y="2340864"/>
            <a:ext cx="36576" cy="4572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9" name="Text 57"/>
          <p:cNvSpPr/>
          <p:nvPr/>
        </p:nvSpPr>
        <p:spPr>
          <a:xfrm>
            <a:off x="4700016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833872" y="2414016"/>
            <a:ext cx="713232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1" name="Text 59"/>
          <p:cNvSpPr/>
          <p:nvPr/>
        </p:nvSpPr>
        <p:spPr>
          <a:xfrm>
            <a:off x="5833872" y="241401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20256" y="23408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deps, CI — sin código de producción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90288" y="2852928"/>
            <a:ext cx="416052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4" name="Shape 62"/>
          <p:cNvSpPr/>
          <p:nvPr/>
        </p:nvSpPr>
        <p:spPr>
          <a:xfrm>
            <a:off x="4590288" y="2852928"/>
            <a:ext cx="36576" cy="4572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65" name="Text 63"/>
          <p:cNvSpPr/>
          <p:nvPr/>
        </p:nvSpPr>
        <p:spPr>
          <a:xfrm>
            <a:off x="4700016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33872" y="2926080"/>
            <a:ext cx="713232" cy="310896"/>
          </a:xfrm>
          <a:prstGeom prst="rect">
            <a:avLst/>
          </a:prstGeom>
          <a:solidFill>
            <a:srgbClr val="F0883E">
              <a:alpha val="22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833872" y="292608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20256" y="28529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rendimiento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90288" y="3364992"/>
            <a:ext cx="416052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0" name="Shape 68"/>
          <p:cNvSpPr/>
          <p:nvPr/>
        </p:nvSpPr>
        <p:spPr>
          <a:xfrm>
            <a:off x="4590288" y="3364992"/>
            <a:ext cx="36576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1" name="Text 69"/>
          <p:cNvSpPr/>
          <p:nvPr/>
        </p:nvSpPr>
        <p:spPr>
          <a:xfrm>
            <a:off x="4700016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833872" y="3438144"/>
            <a:ext cx="713232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3" name="Text 71"/>
          <p:cNvSpPr/>
          <p:nvPr/>
        </p:nvSpPr>
        <p:spPr>
          <a:xfrm>
            <a:off x="5833872" y="3438144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620256" y="33649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pipeline CI/CD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90288" y="3877056"/>
            <a:ext cx="416052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6" name="Shape 74"/>
          <p:cNvSpPr/>
          <p:nvPr/>
        </p:nvSpPr>
        <p:spPr>
          <a:xfrm>
            <a:off x="4590288" y="3877056"/>
            <a:ext cx="36576" cy="4572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77" name="Text 75"/>
          <p:cNvSpPr/>
          <p:nvPr/>
        </p:nvSpPr>
        <p:spPr>
          <a:xfrm>
            <a:off x="4700016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BREAKING!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833872" y="3950208"/>
            <a:ext cx="713232" cy="310896"/>
          </a:xfrm>
          <a:prstGeom prst="rect">
            <a:avLst/>
          </a:prstGeom>
          <a:solidFill>
            <a:srgbClr val="F85149">
              <a:alpha val="22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5833872" y="39502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MAJOR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620256" y="387705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tipo con ! o footer BREAKING CHANGE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solidFill>
            <a:srgbClr val="161B22"/>
          </a:solidFill>
          <a:ln w="7620">
            <a:solidFill>
              <a:srgbClr val="484F5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7472" y="4572000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SemVer:  MAJOR.MINOR.PATCH  ·  1.0.0  →  feat!: 2.0.0  →  feat: 2.1.0  →  fix: 2.1.1  ·  Herramientas: semantic-release · standard-version · commitizen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TAGS, RELEASES &amp; .GITIGNORE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· Releases · .gitignore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297680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4297680" cy="347472"/>
          </a:xfrm>
          <a:prstGeom prst="rect">
            <a:avLst/>
          </a:prstGeom>
          <a:solidFill>
            <a:srgbClr val="D29922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515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Tags — Marcar versiones en la historia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" y="148132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Lightweight tag (solo puntero)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166420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v1.2.0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184708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Annotated tag (objeto completo — RECOMENDADO)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" y="202996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v1.2.0 -m 'Release: QR scan feature'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" y="221284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v1.2.0   # Subir tag específico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239572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--tags   # Subir todos los tags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" y="257860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-d v1.2.0        # Eliminar local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69080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4069080" cy="347472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515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GitHub Releases — Publicar artefactos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82896" y="14813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Asociado a un tag anotado (v1.2.0)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82896" y="17190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Incluye notas de release (changelog)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82896" y="19568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Permite adjuntar binarios / artefactos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2896" y="2194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Genera notificaciones a watchers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2896" y="24323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gh release create v1.2.0 --generate-notes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82896" y="26700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Integración con semantic-release en CI/CD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99232"/>
            <a:ext cx="4297680" cy="1755648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99232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9992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 — qr-asistencia-ctt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332841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— Proyecto Node.js + Docker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50672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368503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86334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4164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.env.local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21995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39826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57657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.nyc_output/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93318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511149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docker-compose.override.yml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528980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6811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.vscode/settings.json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564642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*.swp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999232"/>
            <a:ext cx="4069080" cy="175564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999232"/>
            <a:ext cx="4069080" cy="329184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99923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git stash — Guardar trabajo temporal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82896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 —  Guarda cambios no commiteados en stack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82896" y="3621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push -m 'WIP: qr'  —  Stash con nombre descriptivo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82896" y="3840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list  —  Ver todos los stashes guardados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82896" y="4059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pop  —  Restaurar último stash (y eliminarlo)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82896" y="4279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apply stash@{2}  —  Aplicar stash específico (sin eliminar)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82896" y="4498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drop stash@{0}  —  Eliminar un stash del stack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AVANZADO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Avanzado — cherry-pick, reset, revert, bisect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4206240" cy="347472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8813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cherry-pick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" y="1453896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un commit específico de otra branch a la actual.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aplicar hotfixes a múltiples branches.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" y="192938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cherry-pick abc1234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4048" y="213055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cherry-pick abc1234..def5678  # rango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2743200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743200"/>
            <a:ext cx="4206240" cy="347472"/>
          </a:xfrm>
          <a:prstGeom prst="rect">
            <a:avLst/>
          </a:prstGeom>
          <a:solidFill>
            <a:srgbClr val="F85149">
              <a:alpha val="2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79776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" y="2779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84048" y="3145536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HEAD a un commit anterior. Tres modos: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--soft (mantiene staged) · --mixed (unstaged) · --hard (borra todo)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84048" y="362102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  # Deshacer commit, mantener staged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84048" y="382219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HEAD~2  # ⚠️ Borra commits Y cambios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663440" y="1051560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39D353">
              <a:alpha val="20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8813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2064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773168" y="1453896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nuevo commit que invierte los cambios.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para usar en main — no reescribe historia.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73168" y="192938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abc1234  # Revertir un commit específico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773168" y="213055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HEAD~3..HEAD  # Revertir últimos 3 commits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4663440" y="2743200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63440" y="2743200"/>
            <a:ext cx="4206240" cy="347472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779776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20640" y="2779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773168" y="3145536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binaria para encontrar el commit 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introdujo un bug. Extremadamente poderoso.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773168" y="362102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 start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773168" y="382219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 bad           # commit actual tiene el bug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274320" y="4407408"/>
            <a:ext cx="8595360" cy="365760"/>
          </a:xfrm>
          <a:prstGeom prst="rect">
            <a:avLst/>
          </a:prstGeom>
          <a:solidFill>
            <a:srgbClr val="010409"/>
          </a:solidFill>
          <a:ln w="7620">
            <a:solidFill>
              <a:srgbClr val="484F5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84048" y="4462272"/>
            <a:ext cx="34710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 --all --decorate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3855110" y="4462272"/>
            <a:ext cx="332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187952" y="446227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--author='Juan' --since='2 weeks ago'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7900416" y="4462272"/>
            <a:ext cx="332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233258" y="4462272"/>
            <a:ext cx="3149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-S 'registrarAsistencia' --all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 &amp; PROJECTS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+ Projects — Gestión Ágil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no es solo código — es una plataforma completa de gestión de proyectos ágiles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29768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51560"/>
            <a:ext cx="4297680" cy="347472"/>
          </a:xfrm>
          <a:prstGeom prst="rect">
            <a:avLst/>
          </a:prstGeom>
          <a:solidFill>
            <a:srgbClr val="39D353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0515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Issues — Unidad de trabajo mínima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1508760"/>
            <a:ext cx="4078224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508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17904" y="150876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feat: Registro QR con validación JWT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1911096"/>
            <a:ext cx="4078224" cy="34747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19110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17904" y="191109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priority:high · 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2313432"/>
            <a:ext cx="4078224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313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17904" y="231343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@juan @maria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2715768"/>
            <a:ext cx="4078224" cy="34747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7157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17904" y="271576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MVP QR System (Mar 31)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118104"/>
            <a:ext cx="4078224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118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17904" y="3118104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Asistencia CTT → In Progress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520440"/>
            <a:ext cx="4078224" cy="34747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520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17904" y="352044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#42 en el PR (automático)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4023360"/>
            <a:ext cx="4078224" cy="347472"/>
          </a:xfrm>
          <a:prstGeom prst="rect">
            <a:avLst/>
          </a:prstGeom>
          <a:solidFill>
            <a:srgbClr val="39D353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" y="4078224"/>
            <a:ext cx="374904" cy="237744"/>
          </a:xfrm>
          <a:prstGeom prst="rect">
            <a:avLst/>
          </a:prstGeom>
          <a:solidFill>
            <a:srgbClr val="F85149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4078224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23544" y="4078224"/>
            <a:ext cx="704088" cy="237744"/>
          </a:xfrm>
          <a:prstGeom prst="rect">
            <a:avLst/>
          </a:prstGeom>
          <a:solidFill>
            <a:srgbClr val="39D353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23544" y="4078224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700784" y="4078224"/>
            <a:ext cx="1197864" cy="237744"/>
          </a:xfrm>
          <a:prstGeom prst="rect">
            <a:avLst/>
          </a:prstGeom>
          <a:solidFill>
            <a:srgbClr val="F0883E">
              <a:alpha val="2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700784" y="4078224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priority:high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71800" y="4078224"/>
            <a:ext cx="704088" cy="237744"/>
          </a:xfrm>
          <a:prstGeom prst="rect">
            <a:avLst/>
          </a:prstGeom>
          <a:solidFill>
            <a:srgbClr val="484F58">
              <a:alpha val="2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971800" y="4078224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wontfix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49040" y="4078224"/>
            <a:ext cx="1033272" cy="237744"/>
          </a:xfrm>
          <a:prstGeom prst="rect">
            <a:avLst/>
          </a:prstGeom>
          <a:solidFill>
            <a:srgbClr val="D29922">
              <a:alpha val="2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407822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 wanted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55464" y="4078224"/>
            <a:ext cx="704088" cy="237744"/>
          </a:xfrm>
          <a:prstGeom prst="rect">
            <a:avLst/>
          </a:prstGeom>
          <a:solidFill>
            <a:srgbClr val="F85149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55464" y="4078224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1051560"/>
            <a:ext cx="4069080" cy="3730752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1051560"/>
            <a:ext cx="4069080" cy="347472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10515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GitHub Projects — Tablero Ágil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64608" y="1481328"/>
            <a:ext cx="1225296" cy="256032"/>
          </a:xfrm>
          <a:prstGeom prst="rect">
            <a:avLst/>
          </a:prstGeom>
          <a:solidFill>
            <a:srgbClr val="8B949E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14813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Backlog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64608" y="1792224"/>
            <a:ext cx="1225296" cy="512064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1792224"/>
            <a:ext cx="11155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US-01: Login SSO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64608" y="2359152"/>
            <a:ext cx="1225296" cy="512064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19472" y="2359152"/>
            <a:ext cx="11155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US-04: QR scan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64608" y="2926080"/>
            <a:ext cx="1225296" cy="512064"/>
          </a:xfrm>
          <a:prstGeom prst="rect">
            <a:avLst/>
          </a:prstGeom>
          <a:solidFill>
            <a:srgbClr val="0D1117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2926080"/>
            <a:ext cx="11155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US-07: Reportes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81344" y="1481328"/>
            <a:ext cx="1225296" cy="256032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181344" y="14813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In Progress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81344" y="1792224"/>
            <a:ext cx="1225296" cy="512064"/>
          </a:xfrm>
          <a:prstGeom prst="rect">
            <a:avLst/>
          </a:prstGeom>
          <a:solidFill>
            <a:srgbClr val="0D1117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1792224"/>
            <a:ext cx="11155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US-02: JWT Auth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81344" y="2359152"/>
            <a:ext cx="1225296" cy="512064"/>
          </a:xfrm>
          <a:prstGeom prst="rect">
            <a:avLst/>
          </a:prstGeom>
          <a:solidFill>
            <a:srgbClr val="0D1117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2359152"/>
            <a:ext cx="11155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US-03: BD Schema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498080" y="1481328"/>
            <a:ext cx="1225296" cy="256032"/>
          </a:xfrm>
          <a:prstGeom prst="rect">
            <a:avLst/>
          </a:prstGeom>
          <a:solidFill>
            <a:srgbClr val="39D353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498080" y="14813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98080" y="1792224"/>
            <a:ext cx="1225296" cy="512064"/>
          </a:xfrm>
          <a:prstGeom prst="rect">
            <a:avLst/>
          </a:prstGeom>
          <a:solidFill>
            <a:srgbClr val="0D1117"/>
          </a:solidFill>
          <a:ln w="10160">
            <a:solidFill>
              <a:srgbClr val="39D35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52944" y="1792224"/>
            <a:ext cx="11155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US-05: Setup CI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98080" y="2359152"/>
            <a:ext cx="1225296" cy="512064"/>
          </a:xfrm>
          <a:prstGeom prst="rect">
            <a:avLst/>
          </a:prstGeom>
          <a:solidFill>
            <a:srgbClr val="0D1117"/>
          </a:solidFill>
          <a:ln w="10160">
            <a:solidFill>
              <a:srgbClr val="39D3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52944" y="2359152"/>
            <a:ext cx="11155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US-06: Docker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64608" y="3456432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Milestones = Sprints con fecha límite y % progreso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64608" y="3712464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Workflows automáticos: PR merged → Issue closed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864608" y="3968496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Vincular commits: 'Closes #42' en mensaje o PR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864608" y="4224528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GitHub Projects v2: vistas de table, board y roadmap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864608" y="4480560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Automation: mover card a Done cuando se aprueba PR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 AVANZADO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Workflow Completo de 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297680" cy="3730752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51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.github/workflows/main.yml  (parte 1/2)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38074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CI/CD — QR Asistencia CTT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55905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73736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 # Triggers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91566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 { branches: [main, 'release/**'] 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09397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 { branches: [main]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27228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workflow_dispatch:  # Manual trigger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45059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62890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  # Variables globales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80720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REGISTRY: ghcr.io/${{ github.repository }}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98551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IMAGE_TAG: ${{ github.sha }}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16382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34213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lint-and-test: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69874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87705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05536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matrix: { node: [18, 20] }  # Matrix build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23367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411980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590288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768596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node-version: '${{ matrix.node }}' 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946904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5125212"/>
            <a:ext cx="41148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run lint &amp;&amp; npm test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051560"/>
            <a:ext cx="4069080" cy="3730752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51560"/>
            <a:ext cx="40690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10515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.github/workflows/main.yml  (parte 2/2)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1380744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security-scan: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1559052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lint-and-test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1737360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1915668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2093976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2272284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snyk/actions/node@master  # OWASP scan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450592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 { SNYK_TOKEN: ${{ secrets.SNYK_TOKEN }} 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2628900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2807208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build-and-push: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2985516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[lint-and-test, security-scan]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3163824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if: github.ref == 'refs/heads/main'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3342132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6320" y="3520440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3698748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docker/login-action@v3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3877056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registry: ghcr.io,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4055364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username: ${{ github.actor }},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46320" y="4233672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password: ${{ secrets.GITHUB_TOKEN }} }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4411980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$REGISTRY:$IMAGE_TAG 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6320" y="4590288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push $REGISTRY:$IMAGE_TAG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4768596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46320" y="4946904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deploy-staging: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46320" y="5125212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build-and-push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46320" y="5303520"/>
            <a:ext cx="3886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staging  # Protection rules!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Security — Hardening del Repositorio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Seguridad integrada: protección de ramas, gestión de secretos, escaneo de dependencias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61872"/>
            <a:ext cx="4206240" cy="54864"/>
          </a:xfrm>
          <a:prstGeom prst="rect">
            <a:avLst/>
          </a:prstGeom>
          <a:solidFill>
            <a:srgbClr val="39D35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3898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371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Rules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2336" y="179222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Require pull request reviews (mínimo 1 aprobación)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2336" y="199339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Require status checks to pass (CI verde obligatorio)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02336" y="219456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Require signed commits (GPG/SSH verificados)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2336" y="23957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Restrict who can push to matching branches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02336" y="259689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Include administrators (nadie se auto-aprueba)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2944368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944368"/>
            <a:ext cx="4206240" cy="54864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3072384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30540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Variables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02336" y="347472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Secrets: encriptados, nunca en logs, solo en acciones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02336" y="367588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Environment secrets: por ambiente (staging, prod)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02336" y="387705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Variables: valores no-sensibles reutilizables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02336" y="407822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GITHUB_TOKEN: auto-generado, permisos mínimos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02336" y="427939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Jamás hardcodear credenciales en código fuente ❌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663440" y="1261872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663440" y="1261872"/>
            <a:ext cx="4206240" cy="54864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389888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212080" y="1371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+ Code Scanning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791456" y="179222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Dependabot alerts: deps con CVEs conocidos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791456" y="199339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Dependabot PR: actualización automática de deps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791456" y="219456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CodeQL: análisis semántico de seguridad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791456" y="23957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Secret scanning: detecta credenciales pusheadas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4791456" y="259689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SARIF reports: integración con SonarQube/Snyk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663440" y="2944368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663440" y="2944368"/>
            <a:ext cx="4206240" cy="54864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072384"/>
            <a:ext cx="329184" cy="32918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12080" y="30540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 + Permisos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4791456" y="347472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.github/CODEOWNERS define responsables por path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4791456" y="367588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Roles: Read, Triage, Write, Maintain, Admin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4791456" y="387705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Teams: permisos granulares por equipo/repo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4791456" y="407822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SAML SSO para organizaciones enterprise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4791456" y="427939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Audit log: toda acción queda registrada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CLI — gh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CLI (gh) — GitHub desde la terminal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CLI oficial de GitHub — todo lo que haces en la web, en tu terminal con autocompletado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61872"/>
            <a:ext cx="4206240" cy="329184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618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repo — Repositorios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66420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qr-asistencia --private --clone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84708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 y clonar en un paso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956816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view --web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139696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repo en el browser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24942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fork upstream/repo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432304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y configurar upstream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5420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list --limit 20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72491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repos de la organización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44368"/>
            <a:ext cx="4206240" cy="329184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pr — Pull Requests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34670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 --fill --web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529584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 (toma título del commit)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363931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list --state open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382219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PRs abiertos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931920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checkout 42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4114800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local del PR #42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422452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merge --squash --delete-branch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440740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squash + borrar branch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261872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261872"/>
            <a:ext cx="4206240" cy="329184"/>
          </a:xfrm>
          <a:prstGeom prst="rect">
            <a:avLst/>
          </a:prstGeom>
          <a:solidFill>
            <a:srgbClr val="39D353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2618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issue — Issues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73168" y="166420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issue create -t 'feat: QR scan' -l feature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3168" y="184708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issue con label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1956816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issue list --assignee @me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2139696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asignados a mí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224942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issue close 42 -c 'Fixed in PR #55'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73168" y="2432304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con comentario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254203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issue view 42 --web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272491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issue en el browser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944368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2944368"/>
            <a:ext cx="4206240" cy="329184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workflow — Actions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73168" y="334670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workflow list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73168" y="3529584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todos los workflows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73168" y="363931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workflow run ci.yml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73168" y="382219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workflow manualmente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73168" y="3931920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list --workflow=ci.yml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73168" y="4114800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ejecuciones recientes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73168" y="422452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watch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73168" y="440740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en tiempo real del pipeline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58A6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FORENSICS &amp; DEBUGGING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Forensics — Detectar el Origen de Bugs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como herramienta de investigación: quién cambió qué, cuándo y por qué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61872"/>
            <a:ext cx="4206240" cy="329184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26187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162763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quién escribió cada línea de un archivo y en qué commit.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99339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 registro.js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1945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a3f2c81  (juan  2026-03-10)  async function registrarAsistencia(qr, id)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39572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7e8d932  (maria 2026-03-12)    const ts = new Date().toISOString();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59689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 -L 10,20 registro.js   # Solo líneas 10-20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4206240" cy="329184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92608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--follow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329184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 el historial de un archivo aunque haya sido renombrado o movido.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65760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--follow --oneline src/registro.js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385876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-p --follow src/registro.js  # Con diffs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05993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--all --grep='QR scan'   # Buscar en mensajes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426110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-S 'registrarAsistencia' # Buscar en código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261872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61872"/>
            <a:ext cx="4206240" cy="329184"/>
          </a:xfrm>
          <a:prstGeom prst="rect">
            <a:avLst/>
          </a:prstGeom>
          <a:solidFill>
            <a:srgbClr val="F85149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126187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3168" y="1627632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binaria automática para encontrar el commit exacto que introdujo un bug.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199339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 start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219456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 bad HEAD       # Actual está roto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239572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 good v1.0.0    # Aquí funcionaba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259689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 va al commit medio. Tú testeas: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3168" y="279806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 good|bad       # Repetir hasta encontrar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4206240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26080"/>
            <a:ext cx="4206240" cy="329184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292608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shortlog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73168" y="3291840"/>
            <a:ext cx="3986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contribuciones por autor. Útil para métricas de equipo y auditorías.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657600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shortlog -sn --all    # Commits por autor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73168" y="385876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--numstat --since='1 month ago'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73168" y="405993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v1.0..v2.0 --stat  # Cambios entre versiones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4261104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reflog   # Historial de HEAD (recuperar commits)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solidFill>
            <a:srgbClr val="D29922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PRÁCTICA INTEGRADORA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 — GitHub End-to-End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8503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(3–4 integrantes)  ·  50 minutos  ·  Entrega: PR real en GitHub + 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8503920" cy="1115568"/>
          </a:xfrm>
          <a:prstGeom prst="rect">
            <a:avLst/>
          </a:prstGeom>
          <a:solidFill>
            <a:srgbClr val="1C2B3A"/>
          </a:solidFill>
          <a:ln w="2286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850392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2435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Sistema QR de Asistencia — Etapa 3: GitHub Workflow Completo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1609344"/>
            <a:ext cx="1993392" cy="603504"/>
          </a:xfrm>
          <a:prstGeom prst="rect">
            <a:avLst/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09344"/>
            <a:ext cx="1993392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— Centro de Tecnología y Trabajo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1609344"/>
            <a:ext cx="1993392" cy="603504"/>
          </a:xfrm>
          <a:prstGeom prst="rect">
            <a:avLst/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609344"/>
            <a:ext cx="1993392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en Redes y Software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609344"/>
            <a:ext cx="1993392" cy="603504"/>
          </a:xfrm>
          <a:prstGeom prst="rect">
            <a:avLst/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609344"/>
            <a:ext cx="1993392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Profundización III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609344"/>
            <a:ext cx="1993392" cy="603504"/>
          </a:xfrm>
          <a:prstGeom prst="rect">
            <a:avLst/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609344"/>
            <a:ext cx="1993392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Horario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1874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· Jue  18:00 – 21:00 hs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359152"/>
            <a:ext cx="4096512" cy="969264"/>
          </a:xfrm>
          <a:prstGeom prst="rect">
            <a:avLst/>
          </a:prstGeom>
          <a:solidFill>
            <a:srgbClr val="161B22"/>
          </a:solidFill>
          <a:ln w="1524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359152"/>
            <a:ext cx="54864" cy="969264"/>
          </a:xfrm>
          <a:prstGeom prst="rect">
            <a:avLst/>
          </a:prstGeom>
          <a:solidFill>
            <a:srgbClr val="39D353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" y="2450592"/>
            <a:ext cx="274320" cy="274320"/>
          </a:xfrm>
          <a:prstGeom prst="rect">
            <a:avLst/>
          </a:prstGeom>
          <a:solidFill>
            <a:srgbClr val="39D353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9624" y="2450592"/>
            <a:ext cx="475488" cy="237744"/>
          </a:xfrm>
          <a:prstGeom prst="rect">
            <a:avLst/>
          </a:prstGeom>
          <a:solidFill>
            <a:srgbClr val="39D353">
              <a:alpha val="2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9624" y="24505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3816" y="243230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del Repositorio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48056" y="274320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repo privado en GitHub. Configurar branch protection (require PR + CI). Añadir .gitignore, README y CODEOWNERS con el equipo.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48056" y="314553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Repo configurado · branch protection activa · CODEOWNERS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401568"/>
            <a:ext cx="4096512" cy="969264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401568"/>
            <a:ext cx="54864" cy="9692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48056" y="3493008"/>
            <a:ext cx="274320" cy="274320"/>
          </a:xfrm>
          <a:prstGeom prst="rect">
            <a:avLst/>
          </a:prstGeom>
          <a:solidFill>
            <a:srgbClr val="58A6FF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48056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49624" y="3493008"/>
            <a:ext cx="475488" cy="237744"/>
          </a:xfrm>
          <a:prstGeom prst="rect">
            <a:avLst/>
          </a:prstGeom>
          <a:solidFill>
            <a:srgbClr val="58A6FF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849624" y="349300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min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" y="34747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 + TDD + Commits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48056" y="3785616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feature/registro-qr. Escribir test Jest primero (RED). Código mínimo (GREEN). 3+ commits semánticos (feat/fix/test). Push a GitHub.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8056" y="4187952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Branch con 3+ commits · test verde · sin merge aún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36008" y="2359152"/>
            <a:ext cx="4096512" cy="969264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36008" y="2359152"/>
            <a:ext cx="54864" cy="9692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764024" y="2450592"/>
            <a:ext cx="274320" cy="274320"/>
          </a:xfrm>
          <a:prstGeom prst="rect">
            <a:avLst/>
          </a:prstGeom>
          <a:solidFill>
            <a:srgbClr val="BC8CFF">
              <a:alpha val="8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764024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65592" y="2450592"/>
            <a:ext cx="475488" cy="237744"/>
          </a:xfrm>
          <a:prstGeom prst="rect">
            <a:avLst/>
          </a:prstGeom>
          <a:solidFill>
            <a:srgbClr val="BC8CFF">
              <a:alpha val="2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165592" y="24505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29784" y="243230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+ Code Review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764024" y="274320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PR con template completo. Asignar reviewer del equipo. Revisar código y agregar al menos 2 comentarios + 1 sugerencia. Aprobar y mergear.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64024" y="3145536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PR mergeado · comentarios de review visibles · issue cerrado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36008" y="3401568"/>
            <a:ext cx="4096512" cy="969264"/>
          </a:xfrm>
          <a:prstGeom prst="rect">
            <a:avLst/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36008" y="3401568"/>
            <a:ext cx="54864" cy="9692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7" name="Shape 55"/>
          <p:cNvSpPr/>
          <p:nvPr/>
        </p:nvSpPr>
        <p:spPr>
          <a:xfrm>
            <a:off x="4764024" y="3493008"/>
            <a:ext cx="274320" cy="274320"/>
          </a:xfrm>
          <a:prstGeom prst="rect">
            <a:avLst/>
          </a:prstGeom>
          <a:solidFill>
            <a:srgbClr val="D29922">
              <a:alpha val="8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764024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165592" y="3493008"/>
            <a:ext cx="475488" cy="237744"/>
          </a:xfrm>
          <a:prstGeom prst="rect">
            <a:avLst/>
          </a:prstGeom>
          <a:solidFill>
            <a:srgbClr val="D29922">
              <a:alpha val="2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165592" y="349300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min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129784" y="34747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Tag + Release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4764024" y="3785616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workflow CI con npm test + docker build. Crear tag v0.1.0. Publicar GitHub Release con changelog generado. Verificar pipeline verde.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64024" y="4187952"/>
            <a:ext cx="3858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Pipeline verde · tag v0.1.0 · Release publicado con notas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 — Técnico en Redes y Software  |  GitHub Master Class — Ingeniería de Software  | 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Cheat Sheet Completo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73152"/>
            <a:ext cx="402336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566928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566928"/>
            <a:ext cx="2057400" cy="274320"/>
          </a:xfrm>
          <a:prstGeom prst="rect">
            <a:avLst/>
          </a:prstGeom>
          <a:solidFill>
            <a:srgbClr val="39D353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29184" y="566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Setup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9184" y="8961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'Nombre'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29184" y="129844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'email'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9184" y="170078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alias.lg 'log --oneline --graph --all'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9184" y="21031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'email'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32304" y="566928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32304" y="566928"/>
            <a:ext cx="2057400" cy="274320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505456" y="566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Básico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05456" y="8961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/ git clone &lt;url&gt;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505456" y="129844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/ git diff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05456" y="170078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 / git add -p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05456" y="21031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'feat(scope): desc'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08576" y="566928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08576" y="566928"/>
            <a:ext cx="2057400" cy="274320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681728" y="566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Branches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81728" y="8961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feature/x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81728" y="129844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81728" y="170078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--no-ff feature/x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81728" y="21031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feature/x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784848" y="566928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784848" y="566928"/>
            <a:ext cx="2057400" cy="274320"/>
          </a:xfrm>
          <a:prstGeom prst="rect">
            <a:avLst/>
          </a:prstGeom>
          <a:solidFill>
            <a:srgbClr val="F0883E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0" y="56692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Remote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858000" y="89611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858000" y="129844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858000" y="170078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/ git pull --rebase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858000" y="21031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--delete branch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256032" y="2688336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56032" y="2688336"/>
            <a:ext cx="2057400" cy="274320"/>
          </a:xfrm>
          <a:prstGeom prst="rect">
            <a:avLst/>
          </a:prstGeom>
          <a:solidFill>
            <a:srgbClr val="F85149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329184" y="268833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⏪ Deshacer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29184" y="30175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&lt;file&gt;  # discard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29184" y="34198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329184" y="382219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&lt;hash&gt;  # safe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329184" y="42245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/ git stash pop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432304" y="2688336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432304" y="2688336"/>
            <a:ext cx="2057400" cy="274320"/>
          </a:xfrm>
          <a:prstGeom prst="rect">
            <a:avLst/>
          </a:prstGeom>
          <a:solidFill>
            <a:srgbClr val="D29922">
              <a:alpha val="2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2505456" y="268833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Historia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2505456" y="30175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2505456" y="34198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 archivo.js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2505456" y="382219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bisect start/bad/good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05456" y="42245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shortlog -sn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608576" y="2688336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608576" y="2688336"/>
            <a:ext cx="2057400" cy="274320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4681728" y="268833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Tags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681728" y="30175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v1.0.0 -m 'msg'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681728" y="34198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v1.0.0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681728" y="382219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--tags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681728" y="42245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-d v1.0.0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6784848" y="2688336"/>
            <a:ext cx="2057400" cy="1993392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784848" y="2688336"/>
            <a:ext cx="2057400" cy="274320"/>
          </a:xfrm>
          <a:prstGeom prst="rect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6858000" y="2688336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gh CLI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858000" y="301752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--private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6858000" y="34198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 --fill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6858000" y="382219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merge --squash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6858000" y="42245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run watch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Master Class — Ingeniería de Software</dc:title>
  <dc:subject>PptxGenJS Presentation</dc:subject>
  <dc:creator>Juan Damián Pajares García</dc:creator>
  <cp:lastModifiedBy>Juan Damián Pajares García</cp:lastModifiedBy>
  <cp:revision>1</cp:revision>
  <dcterms:created xsi:type="dcterms:W3CDTF">2026-03-16T19:58:42Z</dcterms:created>
  <dcterms:modified xsi:type="dcterms:W3CDTF">2026-03-16T19:58:42Z</dcterms:modified>
</cp:coreProperties>
</file>